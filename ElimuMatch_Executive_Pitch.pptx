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Held-out synthetic test set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4D5C6C"/>
            </a:solidFill>
          </c:spPr>
          <c:cat>
            <c:strRef>
              <c:f>Sheet1!$A$2:$A$5</c:f>
              <c:strCache>
                <c:ptCount val="4"/>
                <c:pt idx="0">
                  <c:v>Majority</c:v>
                </c:pt>
                <c:pt idx="1">
                  <c:v>Random Forest</c:v>
                </c:pt>
                <c:pt idx="2">
                  <c:v>Gradient Boosting</c:v>
                </c:pt>
                <c:pt idx="3">
                  <c:v>Logistic Regression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0.74</c:v>
                </c:pt>
                <c:pt idx="2">
                  <c:v>0.76</c:v>
                </c:pt>
                <c:pt idx="3">
                  <c:v>0.753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Dropout recall</c:v>
                </c:pt>
              </c:strCache>
            </c:strRef>
          </c:tx>
          <c:spPr>
            <a:solidFill>
              <a:srgbClr val="EB8939"/>
            </a:solidFill>
          </c:spPr>
          <c:cat>
            <c:strRef>
              <c:f>Sheet1!$A$2:$A$5</c:f>
              <c:strCache>
                <c:ptCount val="4"/>
                <c:pt idx="0">
                  <c:v>Majority</c:v>
                </c:pt>
                <c:pt idx="1">
                  <c:v>Random Forest</c:v>
                </c:pt>
                <c:pt idx="2">
                  <c:v>Gradient Boosting</c:v>
                </c:pt>
                <c:pt idx="3">
                  <c:v>Logistic Regression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0.05</c:v>
                </c:pt>
                <c:pt idx="2">
                  <c:v>0.33</c:v>
                </c:pt>
                <c:pt idx="3">
                  <c:v>0.667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0.2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914400"/>
            <a:ext cx="6766560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ptos"/>
              </a:rPr>
              <a:t>ElimuMatch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691640"/>
            <a:ext cx="804672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DCF3EE"/>
                </a:solidFill>
                <a:latin typeface="Aptos"/>
              </a:rPr>
              <a:t>Matching support to retention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487168"/>
            <a:ext cx="813816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ptos"/>
              </a:rPr>
              <a:t>An evidence-led path from “I want to help” to targeted, auditable fee support for Kenyan secondary students.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3977639"/>
            <a:ext cx="329184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8096" y="3977639"/>
            <a:ext cx="73152" cy="1170432"/>
          </a:xfrm>
          <a:prstGeom prst="rect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4142231"/>
            <a:ext cx="294436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THE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544568"/>
            <a:ext cx="2944368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4D5C6C"/>
                </a:solidFill>
                <a:latin typeface="Aptos"/>
              </a:rPr>
              <a:t>Approve a measured 8-school Year-1 pilot.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977639"/>
            <a:ext cx="329184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9392" y="3977639"/>
            <a:ext cx="73152" cy="1170432"/>
          </a:xfrm>
          <a:prstGeom prst="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4142231"/>
            <a:ext cx="294436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4544568"/>
            <a:ext cx="2944368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4D5C6C"/>
                </a:solidFill>
                <a:latin typeface="Aptos"/>
              </a:rPr>
              <a:t>≈ KES 2.0M platform funding, excluding pass-through bursaries.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977639"/>
            <a:ext cx="3383280" cy="1170432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977639"/>
            <a:ext cx="73152" cy="1170432"/>
          </a:xfrm>
          <a:prstGeom prst="rect">
            <a:avLst/>
          </a:prstGeom>
          <a:solidFill>
            <a:srgbClr val="D2A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4142231"/>
            <a:ext cx="303580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THE PRINCIPLE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6" y="4544568"/>
            <a:ext cx="3035808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4D5C6C"/>
                </a:solidFill>
                <a:latin typeface="Aptos"/>
              </a:rPr>
              <a:t>Scale only after real-school evidence clears defined gates.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5989320"/>
            <a:ext cx="1051560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E9EEF1"/>
                </a:solidFill>
                <a:latin typeface="Aptos"/>
              </a:rPr>
              <a:t>Prepared for impact investors, CSR partners &amp; education foundations · Jesyldah, Founder · August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6355080"/>
            <a:ext cx="10515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EB8939"/>
                </a:solidFill>
                <a:latin typeface="Aptos"/>
              </a:rPr>
              <a:t>PoC metrics are synthetic and directional; they are not live-school performance.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6336792"/>
            <a:ext cx="292608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/>
            <a:r>
              <a:rPr sz="819" b="0" i="0">
                <a:solidFill>
                  <a:srgbClr val="4D5C6C"/>
                </a:solidFill>
                <a:latin typeface="Aptos"/>
              </a:rPr>
              <a:t>Executive pitch: problem → insight → solution → value → 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The retention problem is not only access — it is getting the right support to the right student.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087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429000"/>
          </a:xfrm>
          <a:prstGeom prst="rect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73351"/>
            <a:ext cx="308152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F1F31"/>
                </a:solidFill>
                <a:latin typeface="Aptos"/>
              </a:rPr>
              <a:t>01 ·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075688"/>
            <a:ext cx="3081528" cy="2715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4D5C6C"/>
                </a:solidFill>
                <a:latin typeface="Aptos"/>
              </a:rPr>
              <a:t>Household cash-flow shocks can become fee arrears; health absence, academic decline and access barriers can compound the pressure.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508760"/>
            <a:ext cx="73152" cy="3429000"/>
          </a:xfrm>
          <a:prstGeom prst="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673351"/>
            <a:ext cx="308152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F1F31"/>
                </a:solidFill>
                <a:latin typeface="Aptos"/>
              </a:rPr>
              <a:t>02 · MISALLOCATION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075688"/>
            <a:ext cx="3081528" cy="2715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4D5C6C"/>
                </a:solidFill>
                <a:latin typeface="Aptos"/>
              </a:rPr>
              <a:t>Support can follow personal networks or the most visible case rather than measured retention risk and need type.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5087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508760"/>
            <a:ext cx="73152" cy="3429000"/>
          </a:xfrm>
          <a:prstGeom prst="rect">
            <a:avLst/>
          </a:prstGeom>
          <a:solidFill>
            <a:srgbClr val="D2A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1673351"/>
            <a:ext cx="308152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F1F31"/>
                </a:solidFill>
                <a:latin typeface="Aptos"/>
              </a:rPr>
              <a:t>03 · FRICTION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2075688"/>
            <a:ext cx="3081528" cy="2715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4D5C6C"/>
                </a:solidFill>
                <a:latin typeface="Aptos"/>
              </a:rPr>
              <a:t>Helpers may intend to contribute but never complete a gift; schools still need reconciliation, audit trails and dignity safeguards.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30368"/>
            <a:ext cx="1645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1807A"/>
                </a:solidFill>
                <a:latin typeface="Aptos"/>
              </a:rPr>
              <a:t>The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5138928"/>
            <a:ext cx="94640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F1F31"/>
                </a:solidFill>
                <a:latin typeface="Aptos"/>
              </a:rPr>
              <a:t>Turn fragmented signals into a defensible decision loop: identify risk → route the right intervention → settle support cleanly → measure what happened.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Sector context: UNESCO IICBA (2025); KNBS Economic Survey 2025; Glennerster et al. (2011); Gongera &amp; Okoth (2013).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ptos"/>
              </a:rPr>
              <a:t>A larger secondary-school population increases the value of better retention targeting.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60120"/>
            <a:ext cx="106984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E9EEF1"/>
                </a:solidFill>
                <a:latin typeface="Aptos"/>
              </a:rPr>
              <a:t>Context only — not ElimuMatch model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29260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CF3EE"/>
                </a:solidFill>
                <a:latin typeface="Aptos"/>
              </a:rPr>
              <a:t>KENYA COMPLETION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4480560" cy="777240"/>
          </a:xfrm>
          <a:prstGeom prst="round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21408"/>
            <a:ext cx="4151376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Primary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404872"/>
            <a:ext cx="415137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Aptos"/>
              </a:rPr>
              <a:t>near-universal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65860" y="2807208"/>
            <a:ext cx="3794760" cy="777240"/>
          </a:xfrm>
          <a:prstGeom prst="round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0451" y="2962656"/>
            <a:ext cx="3465576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Lower secondary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0451" y="3246120"/>
            <a:ext cx="346557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Aptos"/>
              </a:rPr>
              <a:t>higher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1620" y="3648456"/>
            <a:ext cx="3063240" cy="777240"/>
          </a:xfrm>
          <a:prstGeom prst="roundRect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6212" y="3803904"/>
            <a:ext cx="2734056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Upper secondary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6212" y="4087368"/>
            <a:ext cx="273405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Aptos"/>
              </a:rPr>
              <a:t>≈ half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828800"/>
            <a:ext cx="25603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9592" y="1993392"/>
            <a:ext cx="223113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11807A"/>
                </a:solidFill>
                <a:latin typeface="Aptos"/>
              </a:rPr>
              <a:t>4.32M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9592" y="2578608"/>
            <a:ext cx="223113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secondary enrolment by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9592" y="2962656"/>
            <a:ext cx="2231136" cy="73151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Latest year in KNBS Economic Survey 2025; 2024 provisional.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1828800"/>
            <a:ext cx="25603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1993392"/>
            <a:ext cx="223113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EB8939"/>
                </a:solidFill>
                <a:latin typeface="Aptos"/>
              </a:rPr>
              <a:t>≈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578608"/>
            <a:ext cx="223113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upper-secondary completion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4232" y="2962656"/>
            <a:ext cx="2231136" cy="73151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Approximate 2024 estimate from UNESCO IICBA data brief; sector context 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66344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B8939"/>
                </a:solidFill>
                <a:latin typeface="Aptos"/>
              </a:rPr>
              <a:t>Implication for capital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535424"/>
            <a:ext cx="900684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ptos"/>
              </a:rPr>
              <a:t>If the goal is completed secondary education, the intervention system has to discover pressure before the exit — not only record it after the fact.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Sources: UNESCO International Institute for Capacity Building in Africa (2025), Kenya education data brief; Kenya National Bureau of Statistics (2025), Economic Survey 2025.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The key insight: retention risk is multi-dimensional, so the intervention cannot be “fees only.”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087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508760"/>
            <a:ext cx="73152" cy="1234440"/>
          </a:xfrm>
          <a:prstGeom prst="rect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73351"/>
            <a:ext cx="299008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F31"/>
                </a:solidFill>
                <a:latin typeface="Aptos"/>
              </a:rPr>
              <a:t>Economic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075688"/>
            <a:ext cx="2990088" cy="5212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SES · cash-flow volatility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15087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53128" y="1508760"/>
            <a:ext cx="73152" cy="1234440"/>
          </a:xfrm>
          <a:prstGeom prst="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673351"/>
            <a:ext cx="299008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F31"/>
                </a:solidFill>
                <a:latin typeface="Aptos"/>
              </a:rPr>
              <a:t>Academic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075688"/>
            <a:ext cx="2990088" cy="5212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GPA trend · failed subjects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150876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47888" y="1508760"/>
            <a:ext cx="73152" cy="1234440"/>
          </a:xfrm>
          <a:prstGeom prst="rect">
            <a:avLst/>
          </a:prstGeom>
          <a:solidFill>
            <a:srgbClr val="D2A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9056" y="1673351"/>
            <a:ext cx="299008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F31"/>
                </a:solidFill>
                <a:latin typeface="Aptos"/>
              </a:rPr>
              <a:t>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9056" y="2075688"/>
            <a:ext cx="2990088" cy="5212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health burden · absences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1752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017520"/>
            <a:ext cx="73152" cy="1234440"/>
          </a:xfrm>
          <a:prstGeom prst="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182112"/>
            <a:ext cx="299008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F31"/>
                </a:solidFill>
                <a:latin typeface="Aptos"/>
              </a:rPr>
              <a:t>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584448"/>
            <a:ext cx="2990088" cy="5212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commute · digital · feeding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3017520"/>
            <a:ext cx="333756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53128" y="3017520"/>
            <a:ext cx="73152" cy="1234440"/>
          </a:xfrm>
          <a:prstGeom prst="rect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4296" y="3182112"/>
            <a:ext cx="299008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1F31"/>
                </a:solidFill>
                <a:latin typeface="Aptos"/>
              </a:rPr>
              <a:t>Belonging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3584448"/>
            <a:ext cx="2990088" cy="5212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integration · support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00600"/>
            <a:ext cx="9144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1807A"/>
                </a:solidFill>
                <a:latin typeface="Aptos"/>
              </a:rPr>
              <a:t>So what?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09160"/>
            <a:ext cx="982980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F1F31"/>
                </a:solidFill>
                <a:latin typeface="Aptos"/>
              </a:rPr>
              <a:t>Rank who is at risk, explain why, then route the case to fee support, school action, or a partner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Feature families and routing logic: ElimuMatch Investor Brief, Sections 11–14. SHAP is used for staff explanations; fee arrears remain in the settlement ledger, not the retention model.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ptos"/>
              </a:rPr>
              <a:t>ElimuMatch turns that insight into one complete, auditable fee-support path.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20240"/>
            <a:ext cx="1627632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18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9848" y="2084831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9848" y="2103120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633472"/>
            <a:ext cx="1408176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F1F31"/>
                </a:solidFill>
                <a:latin typeface="Aptos"/>
              </a:rPr>
              <a:t>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3035808"/>
            <a:ext cx="13716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4D5C6C"/>
                </a:solidFill>
                <a:latin typeface="Aptos"/>
              </a:rPr>
              <a:t>Retention risk
from student signals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48840" y="2971800"/>
            <a:ext cx="228599" cy="0"/>
          </a:xfrm>
          <a:prstGeom prst="line">
            <a:avLst/>
          </a:prstGeom>
          <a:ln w="2540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41448" y="1920240"/>
            <a:ext cx="1627632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B8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08376" y="2084831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08376" y="2103120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633472"/>
            <a:ext cx="1408176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F1F31"/>
                </a:solidFill>
                <a:latin typeface="Aptos"/>
              </a:rPr>
              <a:t>EXPLAIN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9464" y="3035808"/>
            <a:ext cx="13716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4D5C6C"/>
                </a:solidFill>
                <a:latin typeface="Aptos"/>
              </a:rPr>
              <a:t>SHAP + risk
persona for staff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87368" y="2971800"/>
            <a:ext cx="228600" cy="0"/>
          </a:xfrm>
          <a:prstGeom prst="line">
            <a:avLst/>
          </a:prstGeom>
          <a:ln w="2540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79976" y="1920240"/>
            <a:ext cx="1627632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18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46904" y="2084831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6904" y="2103120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2633472"/>
            <a:ext cx="1408176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F1F31"/>
                </a:solidFill>
                <a:latin typeface="Aptos"/>
              </a:rPr>
              <a:t>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035808"/>
            <a:ext cx="13716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4D5C6C"/>
                </a:solidFill>
                <a:latin typeface="Aptos"/>
              </a:rPr>
              <a:t>Intervention matrix
selects need type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25896" y="2971800"/>
            <a:ext cx="228600" cy="0"/>
          </a:xfrm>
          <a:prstGeom prst="line">
            <a:avLst/>
          </a:prstGeom>
          <a:ln w="2540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18504" y="1920240"/>
            <a:ext cx="1627632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B8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85432" y="2084831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85432" y="2103120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633472"/>
            <a:ext cx="1408176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F1F31"/>
                </a:solidFill>
                <a:latin typeface="Aptos"/>
              </a:rPr>
              <a:t>GIVE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035808"/>
            <a:ext cx="13716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4D5C6C"/>
                </a:solidFill>
                <a:latin typeface="Aptos"/>
              </a:rPr>
              <a:t>Helper chooses
county/school + amount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64424" y="2971800"/>
            <a:ext cx="228600" cy="0"/>
          </a:xfrm>
          <a:prstGeom prst="line">
            <a:avLst/>
          </a:prstGeom>
          <a:ln w="2540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257032" y="1920240"/>
            <a:ext cx="1627632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B8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23960" y="2084831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2103120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633472"/>
            <a:ext cx="1408176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F1F31"/>
                </a:solidFill>
                <a:latin typeface="Aptos"/>
              </a:rPr>
              <a:t>SETTLE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3035808"/>
            <a:ext cx="13716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4D5C6C"/>
                </a:solidFill>
                <a:latin typeface="Aptos"/>
              </a:rPr>
              <a:t>Verified arrears
oldest-term-first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02952" y="2971800"/>
            <a:ext cx="228600" cy="0"/>
          </a:xfrm>
          <a:prstGeom prst="line">
            <a:avLst/>
          </a:prstGeom>
          <a:ln w="2540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195560" y="1920240"/>
            <a:ext cx="1627632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18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762488" y="2084831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62488" y="2103120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05288" y="2633472"/>
            <a:ext cx="1408176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0F1F31"/>
                </a:solidFill>
                <a:latin typeface="Aptos"/>
              </a:rPr>
              <a:t>MONITOR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23576" y="3035808"/>
            <a:ext cx="13716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4D5C6C"/>
                </a:solidFill>
                <a:latin typeface="Aptos"/>
              </a:rPr>
              <a:t>Coverage · fairness
· freshness · outcomes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617720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EB8939"/>
                </a:solidFill>
                <a:latin typeface="Aptos"/>
              </a:rPr>
              <a:t>Design principle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535424"/>
            <a:ext cx="96012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ptos"/>
              </a:rPr>
              <a:t>Helpers see a simple gift experience; complexity stays with analytics and operations.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212080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DCF3EE"/>
                </a:solidFill>
                <a:latin typeface="Aptos"/>
              </a:rPr>
              <a:t>Settlement controls: reject stale balances and overpayments; apply oldest-term-first; keep the ledger authoritative.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Source: ElimuMatch Investor Brief, Sections 3, 8, 14–15.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The proof-of-concept favors recall: missing a student who drops out is costlier than reviewing a false positive.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58368" y="1508760"/>
          <a:ext cx="640080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72768"/>
            <a:ext cx="40690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60920" y="1572768"/>
            <a:ext cx="73152" cy="1417320"/>
          </a:xfrm>
          <a:prstGeom prst="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62088" y="1737360"/>
            <a:ext cx="3721608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1F31"/>
                </a:solidFill>
                <a:latin typeface="Aptos"/>
              </a:rPr>
              <a:t>SELECTED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139696"/>
            <a:ext cx="3721608" cy="7040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4D5C6C"/>
                </a:solidFill>
                <a:latin typeface="Aptos"/>
              </a:rPr>
              <a:t>Logistic Regression · C = 0.1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3246120"/>
            <a:ext cx="1874519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25512" y="3410712"/>
            <a:ext cx="154533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11807A"/>
                </a:solidFill>
                <a:latin typeface="Aptos"/>
              </a:rPr>
              <a:t>0.753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5512" y="3995928"/>
            <a:ext cx="154533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test 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5480" y="3246120"/>
            <a:ext cx="1874519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72" y="3410712"/>
            <a:ext cx="154533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EB8939"/>
                </a:solidFill>
                <a:latin typeface="Aptos"/>
              </a:rPr>
              <a:t>0.667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0072" y="3995928"/>
            <a:ext cx="154533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dropout 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5138928"/>
            <a:ext cx="10972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11807A"/>
                </a:solidFill>
                <a:latin typeface="Aptos"/>
              </a:rPr>
              <a:t>Why it wins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5047488"/>
            <a:ext cx="30632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AUC is similar across challengers; the business rule breaks ties in favor of catching more future dropouts.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PoC / synthetic holdout only. ElimuMatch Investor Brief: LR AUC ≈0.753; dropout recall ≈0.667; majority baseline AUC 0.50. Not externally validated.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The product deliberately separates risk, helper choice, and money — reducing both bias and settlement risk.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1069848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18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581912"/>
            <a:ext cx="10058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11807A"/>
                </a:solidFill>
                <a:latin typeface="Aptos"/>
              </a:rPr>
              <a:t>LAYER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563624"/>
            <a:ext cx="2331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F31"/>
                </a:solidFill>
                <a:latin typeface="Aptos"/>
              </a:rPr>
              <a:t>RETENTION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63624"/>
            <a:ext cx="67208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Demographics, household pressure, access, academic momentum, health/attendance, belonging.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62072"/>
            <a:ext cx="1069848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B89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026664"/>
            <a:ext cx="10058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B8939"/>
                </a:solidFill>
                <a:latin typeface="Aptos"/>
              </a:rPr>
              <a:t>LAYER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008376"/>
            <a:ext cx="2331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F31"/>
                </a:solidFill>
                <a:latin typeface="Aptos"/>
              </a:rPr>
              <a:t>HELPER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008376"/>
            <a:ext cx="67208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County + school type; anonymized student; partial/full gift;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06824"/>
            <a:ext cx="1069848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2A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471416"/>
            <a:ext cx="10058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D2AA46"/>
                </a:solidFill>
                <a:latin typeface="Aptos"/>
              </a:rPr>
              <a:t>LAYER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53128"/>
            <a:ext cx="2331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F31"/>
                </a:solidFill>
                <a:latin typeface="Aptos"/>
              </a:rPr>
              <a:t>SETTLEMENT LEDGER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67208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4D5C6C"/>
                </a:solidFill>
                <a:latin typeface="Aptos"/>
              </a:rPr>
              <a:t>Verified arrears, gifts, allocations, review flags; authoritative for money.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1554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11807A"/>
                </a:solidFill>
                <a:latin typeface="Aptos"/>
              </a:rPr>
              <a:t>Governance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5815584"/>
            <a:ext cx="914400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Orphan status is excluded as a model feature; helpers never see “high-risk” labels; live publishing requires human review.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Source: ElimuMatch Investor Brief, Sections 8.2 and 11.2. Risk scores are for support allocation, never exclusion, shaming, or denying enrolment.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ptos"/>
              </a:rPr>
              <a:t>The Year-1 pilot can be economically credible — but only as a measured hypothesis.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60120"/>
            <a:ext cx="106984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E9EEF1"/>
                </a:solidFill>
                <a:latin typeface="Aptos"/>
              </a:rPr>
              <a:t>Illustrative assumptions, not observed Kenyan cash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2514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19072"/>
            <a:ext cx="218541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EB8939"/>
                </a:solidFill>
                <a:latin typeface="Aptos"/>
              </a:rPr>
              <a:t>≈ KES 2.0M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04288"/>
            <a:ext cx="218541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platform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88336"/>
            <a:ext cx="2185416" cy="59435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Setup + operating costs; excludes pass-through bursaries.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554480"/>
            <a:ext cx="2514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19072"/>
            <a:ext cx="218541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11807A"/>
                </a:solidFill>
                <a:latin typeface="Aptos"/>
              </a:rPr>
              <a:t>≈ KES 5.15M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04288"/>
            <a:ext cx="218541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quantified base 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688336"/>
            <a:ext cx="2185416" cy="59435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Targeting lift + avoided-dropout proxy + ops productivity.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554480"/>
            <a:ext cx="2514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719072"/>
            <a:ext cx="218541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D2AA46"/>
                </a:solidFill>
                <a:latin typeface="Aptos"/>
              </a:rPr>
              <a:t>≈ 2.6×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304288"/>
            <a:ext cx="218541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base benefit-cost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688336"/>
            <a:ext cx="2185416" cy="59435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Platform cost only; gifts themselves are not ElimuMatch revenue.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1554480"/>
            <a:ext cx="25146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719072"/>
            <a:ext cx="2185416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DCF3EE"/>
                </a:solidFill>
                <a:latin typeface="Aptos"/>
              </a:rPr>
              <a:t>KES 4.0M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304288"/>
            <a:ext cx="2185416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illustrative pass-through gifts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88336"/>
            <a:ext cx="2185416" cy="594359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School fee accounts; separate from platform budget.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822191"/>
            <a:ext cx="14630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CF3EE"/>
                </a:solidFill>
                <a:latin typeface="Aptos"/>
              </a:rPr>
              <a:t>Scenario 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315968"/>
            <a:ext cx="11430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Conservative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74519" y="4315968"/>
            <a:ext cx="1097280" cy="256032"/>
          </a:xfrm>
          <a:prstGeom prst="roundRect">
            <a:avLst/>
          </a:prstGeom>
          <a:solidFill>
            <a:srgbClr val="BF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4306824"/>
            <a:ext cx="2286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KES 1.80M · 0.9×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892040"/>
            <a:ext cx="11430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Base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4892040"/>
            <a:ext cx="3139440" cy="256032"/>
          </a:xfrm>
          <a:prstGeom prst="roundRect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882896"/>
            <a:ext cx="2286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KES 5.15M · 2.6×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468112"/>
            <a:ext cx="11430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Optimistic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68112"/>
            <a:ext cx="6583680" cy="256032"/>
          </a:xfrm>
          <a:prstGeom prst="roundRect">
            <a:avLst/>
          </a:prstGeom>
          <a:solidFill>
            <a:srgbClr val="D2A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1080" y="5458968"/>
            <a:ext cx="2286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KES 10.80M · 5.4×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989320"/>
            <a:ext cx="1417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B8939"/>
                </a:solidFill>
                <a:latin typeface="Aptos"/>
              </a:rPr>
              <a:t>Investor interpretation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5907024"/>
            <a:ext cx="94183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The conservative case is near break-even. That is a feature of the governance design: capital re-decides after real retention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Source: ElimuMatch Investor Brief, Sections 16.1–16.6. All cost/benefit figures are assumptions for an 8-school, 12-month pilot.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The pilot is designed around measurable operational outcomes — not synthetic AUC alone.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3401568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581912"/>
            <a:ext cx="3072384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11807A"/>
                </a:solidFill>
                <a:latin typeface="Aptos"/>
              </a:rPr>
              <a:t>≥ 40%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167128"/>
            <a:ext cx="3072384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fee-queue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551176"/>
            <a:ext cx="3072384" cy="429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priority students receiving ≥1 meaningful gift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417320"/>
            <a:ext cx="3401568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5151" y="1581912"/>
            <a:ext cx="3072384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EB8939"/>
                </a:solidFill>
                <a:latin typeface="Apto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1" y="2167128"/>
            <a:ext cx="3072384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successful overpays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1" y="2551176"/>
            <a:ext cx="3072384" cy="429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ledger rejects overpay / stale balances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02752" y="1417320"/>
            <a:ext cx="3401568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581912"/>
            <a:ext cx="3072384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D2AA46"/>
                </a:solidFill>
                <a:latin typeface="Aptos"/>
              </a:rPr>
              <a:t>≥ 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2167128"/>
            <a:ext cx="3072384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oldest-term clearance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7344" y="2551176"/>
            <a:ext cx="3072384" cy="429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share of gifts applied to Term 1 when arrears exist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02152"/>
            <a:ext cx="3401568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3666744"/>
            <a:ext cx="3072384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11807A"/>
                </a:solidFill>
                <a:latin typeface="Aptos"/>
              </a:rPr>
              <a:t>≤ 14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251960"/>
            <a:ext cx="3072384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score freshness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636008"/>
            <a:ext cx="3072384" cy="429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rescore after term start or major MIS extract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502152"/>
            <a:ext cx="3401568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1" y="3666744"/>
            <a:ext cx="3072384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EB8939"/>
                </a:solidFill>
                <a:latin typeface="Aptos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1" y="4251960"/>
            <a:ext cx="3072384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human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4636008"/>
            <a:ext cx="3072384" cy="429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public queue cases reviewed before first live publish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02752" y="3502152"/>
            <a:ext cx="3401568" cy="166420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3666744"/>
            <a:ext cx="3072384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900" b="1" i="0">
                <a:solidFill>
                  <a:srgbClr val="D2AA46"/>
                </a:solidFill>
                <a:latin typeface="Aptos"/>
              </a:rPr>
              <a:t>Termly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4251960"/>
            <a:ext cx="3072384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0F1F31"/>
                </a:solidFill>
                <a:latin typeface="Aptos"/>
              </a:rPr>
              <a:t>fairness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4636008"/>
            <a:ext cx="3072384" cy="4297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19" b="0" i="0">
                <a:solidFill>
                  <a:srgbClr val="4D5C6C"/>
                </a:solidFill>
                <a:latin typeface="Aptos"/>
              </a:rPr>
              <a:t>SES + gender diagnostics and escalation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Source: ElimuMatch Investor Brief, Section 9. Targets are directional pilot commitments; they emphasize controllable process integrity.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ptos"/>
              </a:rPr>
              <a:t>Scale is earned in five gates: legal readiness → data hardening → soft pilot → live fee lane → evidence-based expansion.</a:t>
            </a:r>
          </a:p>
        </p:txBody>
      </p:sp>
      <p:sp>
        <p:nvSpPr>
          <p:cNvPr id="3" name="Oval 2"/>
          <p:cNvSpPr/>
          <p:nvPr/>
        </p:nvSpPr>
        <p:spPr>
          <a:xfrm>
            <a:off x="1152144" y="1371600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144" y="1389888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9202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LEGAL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23317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DCF3EE"/>
                </a:solidFill>
                <a:latin typeface="Aptos"/>
              </a:rPr>
              <a:t>Months 0–2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2788920"/>
            <a:ext cx="1828800" cy="10972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E9EEF1"/>
                </a:solidFill>
                <a:latin typeface="Aptos"/>
              </a:rPr>
              <a:t>8 MOUs · data protection · safeguarding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31136" y="1581912"/>
            <a:ext cx="109728" cy="0"/>
          </a:xfrm>
          <a:prstGeom prst="line">
            <a:avLst/>
          </a:prstGeom>
          <a:ln w="2286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099815" y="1371600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9815" y="1389888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6584" y="19202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DATA + HARDEN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6584" y="23317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DCF3EE"/>
                </a:solidFill>
                <a:latin typeface="Aptos"/>
              </a:rPr>
              <a:t>Months 1–4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2788920"/>
            <a:ext cx="1828800" cy="10972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E9EEF1"/>
                </a:solidFill>
                <a:latin typeface="Aptos"/>
              </a:rPr>
              <a:t>Tier-1 extracts · auth/backup · payment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78808" y="1581912"/>
            <a:ext cx="109728" cy="0"/>
          </a:xfrm>
          <a:prstGeom prst="line">
            <a:avLst/>
          </a:prstGeom>
          <a:ln w="2286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047488" y="1371600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1389888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19202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SOFT 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23317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DCF3EE"/>
                </a:solidFill>
                <a:latin typeface="Aptos"/>
              </a:rPr>
              <a:t>Term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2788920"/>
            <a:ext cx="1828800" cy="10972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E9EEF1"/>
                </a:solidFill>
                <a:latin typeface="Aptos"/>
              </a:rPr>
              <a:t>Score + human review; no public list until quality gate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26480" y="1581912"/>
            <a:ext cx="109728" cy="0"/>
          </a:xfrm>
          <a:prstGeom prst="line">
            <a:avLst/>
          </a:prstGeom>
          <a:ln w="2286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95159" y="1371600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59" y="1389888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7" y="19202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LIVE FEE GIFTS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7" y="23317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DCF3EE"/>
                </a:solidFill>
                <a:latin typeface="Aptos"/>
              </a:rPr>
              <a:t>Terms 1–2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7" y="2788920"/>
            <a:ext cx="1828800" cy="10972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E9EEF1"/>
                </a:solidFill>
                <a:latin typeface="Aptos"/>
              </a:rPr>
              <a:t>Real payment rails · weekly settlement monitoring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074151" y="1581912"/>
            <a:ext cx="109728" cy="0"/>
          </a:xfrm>
          <a:prstGeom prst="line">
            <a:avLst/>
          </a:prstGeom>
          <a:ln w="2286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942832" y="1371600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1389888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9202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3317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DCF3EE"/>
                </a:solidFill>
                <a:latin typeface="Aptos"/>
              </a:rPr>
              <a:t>Termly / Year-end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788920"/>
            <a:ext cx="1828800" cy="10972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E9EEF1"/>
                </a:solidFill>
                <a:latin typeface="Aptos"/>
              </a:rPr>
              <a:t>Scorecard · retention delta · fairness pack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021824" y="1581912"/>
            <a:ext cx="109728" cy="0"/>
          </a:xfrm>
          <a:prstGeom prst="line">
            <a:avLst/>
          </a:prstGeom>
          <a:ln w="22860">
            <a:solidFill>
              <a:srgbClr val="E9EE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0890503" y="1371600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90503" y="1389888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77272" y="1920240"/>
            <a:ext cx="1828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SCALE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23317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DCF3EE"/>
                </a:solidFill>
                <a:latin typeface="Aptos"/>
              </a:rPr>
              <a:t>After Year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72" y="2788920"/>
            <a:ext cx="1828800" cy="10972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050" b="0" i="0">
                <a:solidFill>
                  <a:srgbClr val="E9EEF1"/>
                </a:solidFill>
                <a:latin typeface="Aptos"/>
              </a:rPr>
              <a:t>Add schools / one new channel only if gates clear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80060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B8939"/>
                </a:solidFill>
                <a:latin typeface="Aptos"/>
              </a:rPr>
              <a:t>No national launch claim.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709160"/>
            <a:ext cx="89611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ptos"/>
              </a:rPr>
              <a:t>National catalog ≠ national volume. The PoC is intentionally pilot-sized: 8 schools, ~800–1,000 students scored.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5532120"/>
            <a:ext cx="1065276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DCF3EE"/>
                </a:solidFill>
                <a:latin typeface="Aptos"/>
              </a:rPr>
              <a:t>Board trigger: pause public lists and root-cause if partner recall falls below ~0.40, fairness fails systematically, settlement rejects remain &gt;~10%, or helped-student retention is not better for two terms.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Source: ElimuMatch Investor Brief, Sections 17.3–17.5.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The principal risks are known — and each has a pre-committed mitigation.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89888"/>
            <a:ext cx="108356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632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Synthetic overconfidence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1143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BF4C4C"/>
                </a:solidFill>
                <a:latin typeface="Aptos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1499616"/>
            <a:ext cx="571500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4D5C6C"/>
                </a:solidFill>
                <a:latin typeface="Aptos"/>
              </a:rPr>
              <a:t>Retrain on partner data; soft pilot before public publish.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31136"/>
            <a:ext cx="108356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95728"/>
            <a:ext cx="30632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Subgroup fairness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395728"/>
            <a:ext cx="1143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EB8939"/>
                </a:solidFill>
                <a:latin typeface="Aptos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340864"/>
            <a:ext cx="571500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4D5C6C"/>
                </a:solidFill>
                <a:latin typeface="Aptos"/>
              </a:rPr>
              <a:t>Termly SES/gender fairness pack; redesign if systematic.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108356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36976"/>
            <a:ext cx="30632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Settlement / data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236976"/>
            <a:ext cx="1143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11807A"/>
                </a:solidFill>
                <a:latin typeface="Aptos"/>
              </a:rPr>
              <a:t>Low–medium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182112"/>
            <a:ext cx="571500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4D5C6C"/>
                </a:solidFill>
                <a:latin typeface="Aptos"/>
              </a:rPr>
              <a:t>Hard ledger rules + weekly integrity monitoring.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13632"/>
            <a:ext cx="108356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78224"/>
            <a:ext cx="30632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Weak helper conversion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078224"/>
            <a:ext cx="1143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D2AA46"/>
                </a:solidFill>
                <a:latin typeface="Aptos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023360"/>
            <a:ext cx="571500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4D5C6C"/>
                </a:solidFill>
                <a:latin typeface="Aptos"/>
              </a:rPr>
              <a:t>PoC UX + partner/marketing test in pilot.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54880"/>
            <a:ext cx="108356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9E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19472"/>
            <a:ext cx="30632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0F1F31"/>
                </a:solidFill>
                <a:latin typeface="Aptos"/>
              </a:rPr>
              <a:t>Fewer avoided dropouts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4919472"/>
            <a:ext cx="11430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150" b="1" i="0">
                <a:solidFill>
                  <a:srgbClr val="4D5C6C"/>
                </a:solidFill>
                <a:latin typeface="Aptos"/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4864608"/>
            <a:ext cx="571500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4D5C6C"/>
                </a:solidFill>
                <a:latin typeface="Aptos"/>
              </a:rPr>
              <a:t>Measure next-term retention; gate scale on Section 9.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715000"/>
            <a:ext cx="22860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1807A"/>
                </a:solidFill>
                <a:latin typeface="Aptos"/>
              </a:rPr>
              <a:t>The discipline is the product.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5623560"/>
            <a:ext cx="850392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F31"/>
                </a:solidFill>
                <a:latin typeface="Aptos"/>
              </a:rPr>
              <a:t>A break-even pilot with clean settlement, fair review, and audit-ready evidence is still a useful decision — because it prevents scaling the wrong thing.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6199632"/>
            <a:ext cx="109270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19" b="0" i="0">
                <a:solidFill>
                  <a:srgbClr val="4D5C6C"/>
                </a:solidFill>
                <a:latin typeface="Aptos"/>
              </a:rPr>
              <a:t>Source: ElimuMatch Investor Brief, Sections 16.5 and 17.5.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ptos"/>
              </a:rPr>
              <a:t>We recommend funding the pilot now — with capital released against evidence, not optimism.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81328"/>
            <a:ext cx="10972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B8939"/>
                </a:solidFill>
                <a:latin typeface="Apto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515600" cy="6400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ptos"/>
              </a:rPr>
              <a:t>Approve ≈ KES 2.0M for Year-1 platform operations across eight partner secondary schools.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2852928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871216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2834640"/>
            <a:ext cx="21945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ptos"/>
              </a:rPr>
              <a:t>Unlock partner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3236976"/>
            <a:ext cx="452628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DCF3EE"/>
                </a:solidFill>
                <a:latin typeface="Aptos"/>
              </a:rPr>
              <a:t>8 school MOUs + data protection + child safeguarding</a:t>
            </a:r>
          </a:p>
        </p:txBody>
      </p:sp>
      <p:sp>
        <p:nvSpPr>
          <p:cNvPr id="9" name="Oval 8"/>
          <p:cNvSpPr/>
          <p:nvPr/>
        </p:nvSpPr>
        <p:spPr>
          <a:xfrm>
            <a:off x="6245352" y="2852928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5352" y="2871216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5704" y="2834640"/>
            <a:ext cx="21945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ptos"/>
              </a:rPr>
              <a:t>Harden the product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5704" y="3236976"/>
            <a:ext cx="452628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DCF3EE"/>
                </a:solidFill>
                <a:latin typeface="Aptos"/>
              </a:rPr>
              <a:t>Authentication, payment integration, school onboarding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4178808"/>
            <a:ext cx="402336" cy="402336"/>
          </a:xfrm>
          <a:prstGeom prst="ellipse">
            <a:avLst/>
          </a:prstGeom>
          <a:solidFill>
            <a:srgbClr val="EB8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197096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4160520"/>
            <a:ext cx="21945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ptos"/>
              </a:rPr>
              <a:t>Run the fee lane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4562856"/>
            <a:ext cx="452628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DCF3EE"/>
                </a:solidFill>
                <a:latin typeface="Aptos"/>
              </a:rPr>
              <a:t>Human review + live settlement + weekly integrity monitoring</a:t>
            </a:r>
          </a:p>
        </p:txBody>
      </p:sp>
      <p:sp>
        <p:nvSpPr>
          <p:cNvPr id="17" name="Oval 16"/>
          <p:cNvSpPr/>
          <p:nvPr/>
        </p:nvSpPr>
        <p:spPr>
          <a:xfrm>
            <a:off x="6245352" y="4178808"/>
            <a:ext cx="402336" cy="402336"/>
          </a:xfrm>
          <a:prstGeom prst="ellipse">
            <a:avLst/>
          </a:prstGeom>
          <a:solidFill>
            <a:srgbClr val="118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352" y="4197096"/>
            <a:ext cx="402336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4160520"/>
            <a:ext cx="21945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ptos"/>
              </a:rPr>
              <a:t>Make the next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5704" y="4562856"/>
            <a:ext cx="452628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80" b="0" i="0">
                <a:solidFill>
                  <a:srgbClr val="DCF3EE"/>
                </a:solidFill>
                <a:latin typeface="Aptos"/>
              </a:rPr>
              <a:t>Termly KPIs + retention comparison + Year-1 board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650992"/>
            <a:ext cx="19202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B8939"/>
                </a:solidFill>
                <a:latin typeface="Aptos"/>
              </a:rPr>
              <a:t>Decision requested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5559552"/>
            <a:ext cx="891540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"/>
              </a:rPr>
              <a:t>Fund the 8-school pilot; authorize partnership and data-gate work; reconvene on expansion only after the scorecard clears.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0F1F31"/>
                </a:solidFill>
                <a:latin typeface="Aptos"/>
              </a:rPr>
              <a:t>Resources &amp;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9844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150" b="1" i="0">
                <a:solidFill>
                  <a:srgbClr val="11807A"/>
                </a:solidFill>
                <a:latin typeface="Aptos"/>
              </a:rPr>
              <a:t>PRIMARY PROJECT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691640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ElimuMatch (Jesyldah, 2026). Investor Brief, Sections 1–19. Source document for all PoC metrics, costs, product claims and recommendations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76272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Jesyldah (2026). ElimuMatch repository and browser demos: github.com/Jesyldah/ElimuMatch · jesyldah.github.io/ElimuMatch/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60904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Kenya National Bureau of Statistics (2025). Economic Survey 2025 (Popular Version).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45536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UNESCO International Institute for Capacity Building in Africa (2025). Kenya education data brief (Data Brief 2025-20).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630168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Glennerster, R., Kremer, M., Mbiti, I., &amp; Takavarasha, K. (2011). Access and quality in the Kenyan education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114800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Gongera, E. &amp; Okoth, N. O. (2013). Alternative sources of financing secondary school education in rural counties of Kenya.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599432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Realinho, V., Machado, J., Baptista, L., &amp; Martins, M. V. (2022). Predicting student dropout and academic success. Data, 7(11), 146.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084064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Lundberg, S. M. &amp; Lee, S.-I. (2017). A unified approach to interpreting model predictions. NeurIPS 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568696"/>
            <a:ext cx="1069848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80" b="0" i="0">
                <a:solidFill>
                  <a:srgbClr val="4D5C6C"/>
                </a:solidFill>
                <a:latin typeface="Aptos"/>
              </a:rPr>
              <a:t>• Tinto, V. (1993). Leaving College: Rethinking the Causes and Cures of Student Attrition.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6080760"/>
            <a:ext cx="9144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1050" b="1" i="0">
                <a:solidFill>
                  <a:srgbClr val="EB8939"/>
                </a:solidFill>
                <a:latin typeface="Aptos"/>
              </a:rPr>
              <a:t>Integrity note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989320"/>
            <a:ext cx="987552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0F1F31"/>
                </a:solidFill>
                <a:latin typeface="Aptos"/>
              </a:rPr>
              <a:t>All ElimuMatch model performance and financial figures are synthetic / illustrative unless explicitly identified as external sector context. Images/visuals in this deck are author-created from the report’s cited data and design logic.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6528816"/>
            <a:ext cx="1097280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4D5C6C"/>
                </a:solidFill>
                <a:latin typeface="Aptos"/>
              </a:rPr>
              <a:t>ElimuMatch · Executive pitch ·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