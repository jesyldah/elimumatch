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ss W" userId="0a9e92bfc7a9bd4f" providerId="LiveId" clId="{44A44528-DB36-4F8C-9869-CF35F0FB3EAC}"/>
    <pc:docChg chg="undo custSel modSld">
      <pc:chgData name="Jess W" userId="0a9e92bfc7a9bd4f" providerId="LiveId" clId="{44A44528-DB36-4F8C-9869-CF35F0FB3EAC}" dt="2026-09-04T20:06:49.613" v="137" actId="20577"/>
      <pc:docMkLst>
        <pc:docMk/>
      </pc:docMkLst>
      <pc:sldChg chg="modSp mod">
        <pc:chgData name="Jess W" userId="0a9e92bfc7a9bd4f" providerId="LiveId" clId="{44A44528-DB36-4F8C-9869-CF35F0FB3EAC}" dt="2026-09-04T20:01:41.200" v="127" actId="20577"/>
        <pc:sldMkLst>
          <pc:docMk/>
          <pc:sldMk cId="0" sldId="256"/>
        </pc:sldMkLst>
        <pc:spChg chg="mod">
          <ac:chgData name="Jess W" userId="0a9e92bfc7a9bd4f" providerId="LiveId" clId="{44A44528-DB36-4F8C-9869-CF35F0FB3EAC}" dt="2026-09-04T20:01:41.200" v="127" actId="20577"/>
          <ac:spMkLst>
            <pc:docMk/>
            <pc:sldMk cId="0" sldId="256"/>
            <ac:spMk id="6" creationId="{00000000-0000-0000-0000-000000000000}"/>
          </ac:spMkLst>
        </pc:spChg>
        <pc:spChg chg="mod">
          <ac:chgData name="Jess W" userId="0a9e92bfc7a9bd4f" providerId="LiveId" clId="{44A44528-DB36-4F8C-9869-CF35F0FB3EAC}" dt="2026-09-04T19:45:10.437" v="60" actId="20577"/>
          <ac:spMkLst>
            <pc:docMk/>
            <pc:sldMk cId="0" sldId="256"/>
            <ac:spMk id="8" creationId="{00000000-0000-0000-0000-000000000000}"/>
          </ac:spMkLst>
        </pc:spChg>
        <pc:spChg chg="mod">
          <ac:chgData name="Jess W" userId="0a9e92bfc7a9bd4f" providerId="LiveId" clId="{44A44528-DB36-4F8C-9869-CF35F0FB3EAC}" dt="2026-09-04T19:44:55.947" v="58" actId="1076"/>
          <ac:spMkLst>
            <pc:docMk/>
            <pc:sldMk cId="0" sldId="256"/>
            <ac:spMk id="9" creationId="{00000000-0000-0000-0000-000000000000}"/>
          </ac:spMkLst>
        </pc:spChg>
      </pc:sldChg>
      <pc:sldChg chg="modSp mod">
        <pc:chgData name="Jess W" userId="0a9e92bfc7a9bd4f" providerId="LiveId" clId="{44A44528-DB36-4F8C-9869-CF35F0FB3EAC}" dt="2026-09-04T20:02:35.120" v="131" actId="20577"/>
        <pc:sldMkLst>
          <pc:docMk/>
          <pc:sldMk cId="0" sldId="257"/>
        </pc:sldMkLst>
        <pc:spChg chg="mod">
          <ac:chgData name="Jess W" userId="0a9e92bfc7a9bd4f" providerId="LiveId" clId="{44A44528-DB36-4F8C-9869-CF35F0FB3EAC}" dt="2026-09-04T20:02:35.120" v="131" actId="20577"/>
          <ac:spMkLst>
            <pc:docMk/>
            <pc:sldMk cId="0" sldId="257"/>
            <ac:spMk id="5" creationId="{00000000-0000-0000-0000-000000000000}"/>
          </ac:spMkLst>
        </pc:spChg>
      </pc:sldChg>
      <pc:sldChg chg="delSp modSp mod">
        <pc:chgData name="Jess W" userId="0a9e92bfc7a9bd4f" providerId="LiveId" clId="{44A44528-DB36-4F8C-9869-CF35F0FB3EAC}" dt="2026-09-04T20:06:27.259" v="134" actId="1076"/>
        <pc:sldMkLst>
          <pc:docMk/>
          <pc:sldMk cId="0" sldId="258"/>
        </pc:sldMkLst>
        <pc:spChg chg="mod">
          <ac:chgData name="Jess W" userId="0a9e92bfc7a9bd4f" providerId="LiveId" clId="{44A44528-DB36-4F8C-9869-CF35F0FB3EAC}" dt="2026-09-04T20:06:27.259" v="134" actId="1076"/>
          <ac:spMkLst>
            <pc:docMk/>
            <pc:sldMk cId="0" sldId="258"/>
            <ac:spMk id="7" creationId="{00000000-0000-0000-0000-000000000000}"/>
          </ac:spMkLst>
        </pc:spChg>
        <pc:spChg chg="del">
          <ac:chgData name="Jess W" userId="0a9e92bfc7a9bd4f" providerId="LiveId" clId="{44A44528-DB36-4F8C-9869-CF35F0FB3EAC}" dt="2026-09-04T20:06:17.389" v="132" actId="478"/>
          <ac:spMkLst>
            <pc:docMk/>
            <pc:sldMk cId="0" sldId="258"/>
            <ac:spMk id="8" creationId="{00000000-0000-0000-0000-000000000000}"/>
          </ac:spMkLst>
        </pc:spChg>
      </pc:sldChg>
      <pc:sldChg chg="modSp mod">
        <pc:chgData name="Jess W" userId="0a9e92bfc7a9bd4f" providerId="LiveId" clId="{44A44528-DB36-4F8C-9869-CF35F0FB3EAC}" dt="2026-09-04T20:06:49.613" v="137" actId="20577"/>
        <pc:sldMkLst>
          <pc:docMk/>
          <pc:sldMk cId="0" sldId="259"/>
        </pc:sldMkLst>
        <pc:spChg chg="mod">
          <ac:chgData name="Jess W" userId="0a9e92bfc7a9bd4f" providerId="LiveId" clId="{44A44528-DB36-4F8C-9869-CF35F0FB3EAC}" dt="2026-09-04T20:06:49.613" v="137" actId="20577"/>
          <ac:spMkLst>
            <pc:docMk/>
            <pc:sldMk cId="0" sldId="259"/>
            <ac:spMk id="8" creationId="{00000000-0000-0000-0000-000000000000}"/>
          </ac:spMkLst>
        </pc:spChg>
      </pc:sldChg>
      <pc:sldChg chg="modSp mod">
        <pc:chgData name="Jess W" userId="0a9e92bfc7a9bd4f" providerId="LiveId" clId="{44A44528-DB36-4F8C-9869-CF35F0FB3EAC}" dt="2026-09-04T19:43:16.883" v="13" actId="20577"/>
        <pc:sldMkLst>
          <pc:docMk/>
          <pc:sldMk cId="0" sldId="261"/>
        </pc:sldMkLst>
        <pc:spChg chg="mod">
          <ac:chgData name="Jess W" userId="0a9e92bfc7a9bd4f" providerId="LiveId" clId="{44A44528-DB36-4F8C-9869-CF35F0FB3EAC}" dt="2026-09-04T19:43:16.883" v="13" actId="20577"/>
          <ac:spMkLst>
            <pc:docMk/>
            <pc:sldMk cId="0" sldId="261"/>
            <ac:spMk id="8" creationId="{00000000-0000-0000-0000-000000000000}"/>
          </ac:spMkLst>
        </pc:spChg>
      </pc:sldChg>
      <pc:sldChg chg="modSp mod">
        <pc:chgData name="Jess W" userId="0a9e92bfc7a9bd4f" providerId="LiveId" clId="{44A44528-DB36-4F8C-9869-CF35F0FB3EAC}" dt="2026-09-04T19:43:04.010" v="11" actId="20577"/>
        <pc:sldMkLst>
          <pc:docMk/>
          <pc:sldMk cId="0" sldId="262"/>
        </pc:sldMkLst>
        <pc:spChg chg="mod">
          <ac:chgData name="Jess W" userId="0a9e92bfc7a9bd4f" providerId="LiveId" clId="{44A44528-DB36-4F8C-9869-CF35F0FB3EAC}" dt="2026-09-04T19:43:04.010" v="11" actId="20577"/>
          <ac:spMkLst>
            <pc:docMk/>
            <pc:sldMk cId="0" sldId="262"/>
            <ac:spMk id="8" creationId="{00000000-0000-0000-0000-000000000000}"/>
          </ac:spMkLst>
        </pc:spChg>
      </pc:sldChg>
      <pc:sldChg chg="modSp mod">
        <pc:chgData name="Jess W" userId="0a9e92bfc7a9bd4f" providerId="LiveId" clId="{44A44528-DB36-4F8C-9869-CF35F0FB3EAC}" dt="2026-09-04T19:41:38.795" v="7" actId="20577"/>
        <pc:sldMkLst>
          <pc:docMk/>
          <pc:sldMk cId="0" sldId="263"/>
        </pc:sldMkLst>
        <pc:spChg chg="mod">
          <ac:chgData name="Jess W" userId="0a9e92bfc7a9bd4f" providerId="LiveId" clId="{44A44528-DB36-4F8C-9869-CF35F0FB3EAC}" dt="2026-09-04T19:41:38.795" v="7" actId="20577"/>
          <ac:spMkLst>
            <pc:docMk/>
            <pc:sldMk cId="0" sldId="263"/>
            <ac:spMk id="9" creationId="{00000000-0000-0000-0000-000000000000}"/>
          </ac:spMkLst>
        </pc:spChg>
        <pc:spChg chg="mod">
          <ac:chgData name="Jess W" userId="0a9e92bfc7a9bd4f" providerId="LiveId" clId="{44A44528-DB36-4F8C-9869-CF35F0FB3EAC}" dt="2026-09-04T19:40:43.410" v="3" actId="6549"/>
          <ac:spMkLst>
            <pc:docMk/>
            <pc:sldMk cId="0" sldId="263"/>
            <ac:spMk id="12" creationId="{00000000-0000-0000-0000-000000000000}"/>
          </ac:spMkLst>
        </pc:spChg>
      </pc:sldChg>
      <pc:sldChg chg="modSp mod">
        <pc:chgData name="Jess W" userId="0a9e92bfc7a9bd4f" providerId="LiveId" clId="{44A44528-DB36-4F8C-9869-CF35F0FB3EAC}" dt="2026-09-04T19:43:50.354" v="15" actId="20577"/>
        <pc:sldMkLst>
          <pc:docMk/>
          <pc:sldMk cId="0" sldId="265"/>
        </pc:sldMkLst>
        <pc:spChg chg="mod">
          <ac:chgData name="Jess W" userId="0a9e92bfc7a9bd4f" providerId="LiveId" clId="{44A44528-DB36-4F8C-9869-CF35F0FB3EAC}" dt="2026-09-04T19:43:50.354" v="15" actId="20577"/>
          <ac:spMkLst>
            <pc:docMk/>
            <pc:sldMk cId="0" sldId="265"/>
            <ac:spMk id="7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1695" cy="54864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ElimuMatch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F7F1E8"/>
                </a:solidFill>
                <a:latin typeface="Calibri"/>
              </a:defRPr>
            </a:pPr>
            <a:r>
              <a:t>Matching Support to Retention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0040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8EFE9"/>
                </a:solidFill>
                <a:latin typeface="Calibri"/>
              </a:defRPr>
            </a:pPr>
            <a:r>
              <a:rPr dirty="0"/>
              <a:t>A data-driven platform for fee support to </a:t>
            </a:r>
            <a:r>
              <a:rPr lang="en-GB" dirty="0"/>
              <a:t>secondary school students in </a:t>
            </a:r>
            <a:r>
              <a:rPr dirty="0"/>
              <a:t>Kenya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3891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8EFE9"/>
                </a:solidFill>
                <a:latin typeface="Calibri"/>
              </a:defRPr>
            </a:pPr>
            <a:r>
              <a:rPr dirty="0"/>
              <a:t>Prepared for Impact Investors, CSR Partners, and Education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361503"/>
            <a:ext cx="9144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8EFE9"/>
                </a:solidFill>
                <a:latin typeface="Calibri"/>
              </a:defRPr>
            </a:pPr>
            <a:r>
              <a:rPr lang="en-GB" dirty="0" err="1"/>
              <a:t>ElimuMatch</a:t>
            </a:r>
            <a:r>
              <a:rPr lang="en-GB" dirty="0"/>
              <a:t> Analytics </a:t>
            </a:r>
            <a:r>
              <a:rPr dirty="0"/>
              <a:t>|  August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852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4B942"/>
                </a:solidFill>
                <a:latin typeface="Calibri"/>
              </a:defRPr>
            </a:pPr>
            <a:r>
              <a:rPr dirty="0"/>
              <a:t>jesyldah.github.io/</a:t>
            </a:r>
            <a:r>
              <a:rPr dirty="0" err="1"/>
              <a:t>ElimuMatch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"/>
            <a:ext cx="12191695" cy="36576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7A5A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4213D"/>
                </a:solidFill>
                <a:latin typeface="Calibri"/>
              </a:defRPr>
            </a:pPr>
            <a:r>
              <a:rPr dirty="0"/>
              <a:t>Kenya</a:t>
            </a:r>
            <a:r>
              <a:rPr lang="en-GB" dirty="0"/>
              <a:t> has</a:t>
            </a:r>
            <a:r>
              <a:rPr dirty="0"/>
              <a:t> expanded access, but nearly half of students still do not finish secondary school</a:t>
            </a:r>
          </a:p>
        </p:txBody>
      </p:sp>
      <p:pic>
        <p:nvPicPr>
          <p:cNvPr id="6" name="Picture 5" descr="ext_02_kenya_completion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5029200" cy="2745366"/>
          </a:xfrm>
          <a:prstGeom prst="rect">
            <a:avLst/>
          </a:prstGeom>
        </p:spPr>
      </p:pic>
      <p:pic>
        <p:nvPicPr>
          <p:cNvPr id="7" name="Picture 6" descr="ext_03_kenya_access_progr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554480"/>
            <a:ext cx="5029200" cy="27578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03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4213D"/>
                </a:solidFill>
                <a:latin typeface="Calibri"/>
              </a:defRPr>
            </a:pPr>
            <a:r>
              <a:t>4.32 million students were enrolled by 2024, all vulnerable to fee pressure and income shocks.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14213D"/>
                </a:solidFill>
                <a:latin typeface="Calibri"/>
              </a:defRPr>
            </a:pPr>
            <a:r>
              <a:t>People want to help, but support follows personal connections instead of reaching those who need it most.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B73"/>
                </a:solidFill>
                <a:latin typeface="Calibri"/>
              </a:defRPr>
            </a:pPr>
            <a:r>
              <a:t>Sources: UNESCO IICBA (2025) completion estimates; KNBS Economic Survey 2025, secondary enrolment 2020-2024.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"/>
            <a:ext cx="12191695" cy="36576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7A5A"/>
                </a:solidFill>
                <a:latin typeface="Calibri"/>
              </a:defRPr>
            </a:pPr>
            <a:r>
              <a:t>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4213D"/>
                </a:solidFill>
                <a:latin typeface="Calibri"/>
              </a:defRPr>
            </a:pPr>
            <a:r>
              <a:t>NGO help often focuses on ASAL, while students elsewhere also face fee pressure and dropout risk</a:t>
            </a:r>
          </a:p>
        </p:txBody>
      </p:sp>
      <p:pic>
        <p:nvPicPr>
          <p:cNvPr id="6" name="Picture 5" descr="09_perceptual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5303520" cy="40117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5544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213D"/>
                </a:solidFill>
                <a:latin typeface="Calibri"/>
              </a:defRPr>
            </a:pPr>
            <a:r>
              <a:rPr dirty="0"/>
              <a:t>How support is directed today: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14213D"/>
                </a:solidFill>
                <a:latin typeface="Calibri"/>
              </a:defRPr>
            </a:pPr>
            <a:r>
              <a:rPr dirty="0"/>
              <a:t>•  Many NGO programs concentrate on arid and semi-arid lands (ASAL), while students elsewhere also face fee pressure and dropout risk.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14213D"/>
                </a:solidFill>
                <a:latin typeface="Calibri"/>
              </a:defRPr>
            </a:pPr>
            <a:r>
              <a:rPr dirty="0"/>
              <a:t>•  Most individual donors rely on personal contacts, so students without connections are overlooked.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14213D"/>
                </a:solidFill>
                <a:latin typeface="Calibri"/>
              </a:defRPr>
            </a:pPr>
            <a:r>
              <a:rPr dirty="0"/>
              <a:t>•  Bursary contests run once a year with heavy paperwork, leaving gaps the rest of the time.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14213D"/>
                </a:solidFill>
                <a:latin typeface="Calibri"/>
              </a:defRPr>
            </a:pPr>
            <a:r>
              <a:rPr dirty="0"/>
              <a:t>•  Crowdfunding and school lists rarely rank who is most at risk of leaving.</a:t>
            </a:r>
          </a:p>
          <a:p>
            <a:pPr algn="l">
              <a:spcBef>
                <a:spcPts val="600"/>
              </a:spcBef>
              <a:defRPr sz="1000" b="0">
                <a:solidFill>
                  <a:srgbClr val="14213D"/>
                </a:solidFill>
                <a:latin typeface="Calibri"/>
              </a:defRPr>
            </a:pPr>
            <a:endParaRPr dirty="0"/>
          </a:p>
          <a:p>
            <a:pPr algn="l">
              <a:spcBef>
                <a:spcPts val="600"/>
              </a:spcBef>
              <a:defRPr sz="1500" b="1">
                <a:solidFill>
                  <a:srgbClr val="1B7A5A"/>
                </a:solidFill>
                <a:latin typeface="Calibri"/>
              </a:defRPr>
            </a:pPr>
            <a:r>
              <a:rPr dirty="0" err="1"/>
              <a:t>ElimuMatch</a:t>
            </a:r>
            <a:r>
              <a:rPr dirty="0"/>
              <a:t> covers all 47 counties: donors can choose any place, and priority follows measured risk, not geography alone.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"/>
            <a:ext cx="12191695" cy="36576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7A5A"/>
                </a:solidFill>
                <a:latin typeface="Calibri"/>
              </a:defRPr>
            </a:pPr>
            <a: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4213D"/>
                </a:solidFill>
                <a:latin typeface="Calibri"/>
              </a:defRPr>
            </a:pPr>
            <a:r>
              <a:t>ElimuMatch identifies at-risk students and lets donors support them in four simple steps</a:t>
            </a:r>
          </a:p>
        </p:txBody>
      </p:sp>
      <p:pic>
        <p:nvPicPr>
          <p:cNvPr id="6" name="Picture 5" descr="01_product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5486400" cy="30706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4630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7A5A"/>
                </a:solidFill>
                <a:latin typeface="Calibri"/>
              </a:defRPr>
            </a:pPr>
            <a:r>
              <a:t>What donors experience: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14213D"/>
                </a:solidFill>
                <a:latin typeface="Calibri"/>
              </a:defRPr>
            </a:pPr>
            <a:r>
              <a:t>They pick a county, choose a school, see a student's fee balance, give, and get a receipt.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14213D"/>
                </a:solidFill>
                <a:latin typeface="Calibri"/>
              </a:defRPr>
            </a:pPr>
            <a:endParaRPr/>
          </a:p>
          <a:p>
            <a:pPr algn="l">
              <a:spcBef>
                <a:spcPts val="600"/>
              </a:spcBef>
              <a:defRPr sz="1600" b="1">
                <a:solidFill>
                  <a:srgbClr val="1B7A5A"/>
                </a:solidFill>
                <a:latin typeface="Calibri"/>
              </a:defRPr>
            </a:pPr>
            <a:r>
              <a:t>What happens behind the scenes: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14213D"/>
                </a:solidFill>
                <a:latin typeface="Calibri"/>
              </a:defRPr>
            </a:pPr>
            <a:r>
              <a:t>Our system scores each student's risk of dropping out. Only students who need fee help appear. School staff can see the reasons behind each score.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14213D"/>
                </a:solidFill>
                <a:latin typeface="Calibri"/>
              </a:defRPr>
            </a:pPr>
            <a:endParaRPr/>
          </a:p>
          <a:p>
            <a:pPr algn="l">
              <a:spcBef>
                <a:spcPts val="600"/>
              </a:spcBef>
              <a:defRPr sz="1500" b="1">
                <a:solidFill>
                  <a:srgbClr val="14213D"/>
                </a:solidFill>
                <a:latin typeface="Calibri"/>
              </a:defRPr>
            </a:pPr>
            <a:r>
              <a:t>Every shilling goes directly to the school's fee account. ElimuMatch does not take a cut.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B73"/>
                </a:solidFill>
                <a:latin typeface="Calibri"/>
              </a:defRPr>
            </a:pPr>
            <a:r>
              <a:rPr dirty="0"/>
              <a:t>Privacy: </a:t>
            </a:r>
            <a:r>
              <a:rPr lang="en-GB" dirty="0"/>
              <a:t>D</a:t>
            </a:r>
            <a:r>
              <a:rPr dirty="0"/>
              <a:t>onors see anonymized profiles only. Student identities are protected.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"/>
            <a:ext cx="12191695" cy="36576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7A5A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4213D"/>
                </a:solidFill>
                <a:latin typeface="Calibri"/>
              </a:defRPr>
            </a:pPr>
            <a:r>
              <a:t>A donor chooses where to give, pays school fees, and gets a receipt</a:t>
            </a:r>
          </a:p>
        </p:txBody>
      </p:sp>
      <p:pic>
        <p:nvPicPr>
          <p:cNvPr id="6" name="Picture 5" descr="10_gift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417320"/>
            <a:ext cx="8500188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47548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4213D"/>
                </a:solidFill>
                <a:latin typeface="Calibri"/>
              </a:defRPr>
            </a:pPr>
            <a:r>
              <a:t>Every gift goes directly to the school's fee account. Oldest unpaid terms are cleared first.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14213D"/>
                </a:solidFill>
                <a:latin typeface="Calibri"/>
              </a:defRPr>
            </a:pPr>
            <a:r>
              <a:t>Overpayments are blocked automatically, and every transaction is tracked and auditable.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B73"/>
                </a:solidFill>
                <a:latin typeface="Calibri"/>
              </a:defRPr>
            </a:pPr>
            <a:r>
              <a:t>Live demo: jesyldah.github.io/ElimuMatch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"/>
            <a:ext cx="12191695" cy="36576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7A5A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4213D"/>
                </a:solidFill>
                <a:latin typeface="Calibri"/>
              </a:defRPr>
            </a:pPr>
            <a:r>
              <a:t>Our system identifies about two out of three students who would drop out, twice the nearest alternative</a:t>
            </a:r>
          </a:p>
        </p:txBody>
      </p:sp>
      <p:pic>
        <p:nvPicPr>
          <p:cNvPr id="6" name="Picture 5" descr="08_selection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6400800" cy="4367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146304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14213D"/>
                </a:solidFill>
                <a:latin typeface="Calibri"/>
              </a:defRPr>
            </a:pPr>
            <a:r>
              <a:t>We tested four different approaches.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14213D"/>
                </a:solidFill>
                <a:latin typeface="Calibri"/>
              </a:defRPr>
            </a:pPr>
            <a:r>
              <a:t>Logistic Regression is the one we selected: it catches about 67% of students who later drop out. Gradient Boosting catches only about 33%.</a:t>
            </a:r>
          </a:p>
          <a:p>
            <a:pPr algn="l">
              <a:spcBef>
                <a:spcPts val="600"/>
              </a:spcBef>
              <a:defRPr sz="1000" b="0">
                <a:solidFill>
                  <a:srgbClr val="14213D"/>
                </a:solidFill>
                <a:latin typeface="Calibri"/>
              </a:defRPr>
            </a:pPr>
            <a:endParaRPr/>
          </a:p>
          <a:p>
            <a:pPr algn="l">
              <a:spcBef>
                <a:spcPts val="600"/>
              </a:spcBef>
              <a:defRPr sz="1500" b="1">
                <a:solidFill>
                  <a:srgbClr val="14213D"/>
                </a:solidFill>
                <a:latin typeface="Calibri"/>
              </a:defRPr>
            </a:pPr>
            <a:r>
              <a:t>The strongest warning signs are health problems, family economic pressure, and falling grades.</a:t>
            </a:r>
          </a:p>
          <a:p>
            <a:pPr algn="l">
              <a:spcBef>
                <a:spcPts val="600"/>
              </a:spcBef>
              <a:defRPr sz="1000" b="0">
                <a:solidFill>
                  <a:srgbClr val="14213D"/>
                </a:solidFill>
                <a:latin typeface="Calibri"/>
              </a:defRPr>
            </a:pPr>
            <a:endParaRPr/>
          </a:p>
          <a:p>
            <a:pPr algn="l">
              <a:spcBef>
                <a:spcPts val="600"/>
              </a:spcBef>
              <a:defRPr sz="1400" b="0">
                <a:solidFill>
                  <a:srgbClr val="14213D"/>
                </a:solidFill>
                <a:latin typeface="Calibri"/>
              </a:defRPr>
            </a:pPr>
            <a:r>
              <a:t>School staff see why each student is flagged, so they can take informed action. Donors see only a simple, clear profile.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B73"/>
                </a:solidFill>
                <a:latin typeface="Calibri"/>
              </a:defRPr>
            </a:pPr>
            <a:r>
              <a:rPr dirty="0"/>
              <a:t>Results from proof-of-concept data (1,000 students). Real school validation is the next step.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"/>
            <a:ext cx="12191695" cy="36576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7A5A"/>
                </a:solidFill>
                <a:latin typeface="Calibri"/>
              </a:defRPr>
            </a:pPr>
            <a:r>
              <a:t>BUSINESS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4213D"/>
                </a:solidFill>
                <a:latin typeface="Calibri"/>
              </a:defRPr>
            </a:pPr>
            <a:r>
              <a:t>An 8-school pilot returns about KES 2.6 for every KES 1 of platform cost</a:t>
            </a:r>
          </a:p>
        </p:txBody>
      </p:sp>
      <p:pic>
        <p:nvPicPr>
          <p:cNvPr id="6" name="Picture 5" descr="06_year1_econo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5486400" cy="3318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4630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13D"/>
                </a:solidFill>
                <a:latin typeface="Calibri"/>
              </a:defRPr>
            </a:pPr>
            <a:r>
              <a:t>Year-1 pilot: 8 schools, about 1,000 students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14213D"/>
                </a:solidFill>
                <a:latin typeface="Calibri"/>
              </a:defRPr>
            </a:pPr>
            <a:endParaRPr/>
          </a:p>
          <a:p>
            <a:pPr algn="l">
              <a:spcBef>
                <a:spcPts val="600"/>
              </a:spcBef>
              <a:defRPr sz="1500" b="0">
                <a:solidFill>
                  <a:srgbClr val="14213D"/>
                </a:solidFill>
                <a:latin typeface="Calibri"/>
              </a:defRPr>
            </a:pPr>
            <a:r>
              <a:t>It costs about KES 2.0M to set up and run the platform for one year.</a:t>
            </a:r>
          </a:p>
          <a:p>
            <a:pPr algn="l">
              <a:spcBef>
                <a:spcPts val="600"/>
              </a:spcBef>
              <a:defRPr sz="1500" b="0">
                <a:solidFill>
                  <a:srgbClr val="14213D"/>
                </a:solidFill>
                <a:latin typeface="Calibri"/>
              </a:defRPr>
            </a:pPr>
            <a:r>
              <a:t>Donor gifts of about KES 4.0M pass through to schools separately.</a:t>
            </a:r>
          </a:p>
          <a:p>
            <a:pPr algn="l">
              <a:spcBef>
                <a:spcPts val="600"/>
              </a:spcBef>
              <a:defRPr sz="1500" b="1">
                <a:solidFill>
                  <a:srgbClr val="1B7A5A"/>
                </a:solidFill>
                <a:latin typeface="Calibri"/>
              </a:defRPr>
            </a:pPr>
            <a:r>
              <a:t>The estimated benefits total about KES 5.2M from better targeting, fewer dropouts, and staff time saved.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14213D"/>
                </a:solidFill>
                <a:latin typeface="Calibri"/>
              </a:defRPr>
            </a:pPr>
            <a:endParaRPr/>
          </a:p>
          <a:p>
            <a:pPr algn="l">
              <a:spcBef>
                <a:spcPts val="600"/>
              </a:spcBef>
              <a:defRPr sz="1400" b="0">
                <a:solidFill>
                  <a:srgbClr val="5C6B73"/>
                </a:solidFill>
                <a:latin typeface="Calibri"/>
              </a:defRPr>
            </a:pPr>
            <a:r>
              <a:t>Conservative estimate: roughly break-even.</a:t>
            </a:r>
          </a:p>
          <a:p>
            <a:pPr algn="l">
              <a:spcBef>
                <a:spcPts val="600"/>
              </a:spcBef>
              <a:defRPr sz="1600" b="1">
                <a:solidFill>
                  <a:srgbClr val="1B7A5A"/>
                </a:solidFill>
                <a:latin typeface="Calibri"/>
              </a:defRPr>
            </a:pPr>
            <a:r>
              <a:t>Base case: 2.6x return.  Best case: 5.4x.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14213D"/>
                </a:solidFill>
                <a:latin typeface="Calibri"/>
              </a:defRPr>
            </a:pPr>
            <a:endParaRPr/>
          </a:p>
          <a:p>
            <a:pPr algn="l">
              <a:spcBef>
                <a:spcPts val="600"/>
              </a:spcBef>
              <a:defRPr sz="1400" b="0">
                <a:solidFill>
                  <a:srgbClr val="14213D"/>
                </a:solidFill>
                <a:latin typeface="Calibri"/>
              </a:defRPr>
            </a:pPr>
            <a:r>
              <a:t>We measure success by whether priority students actually receive gifts, whether payments land without errors, and whether helped students stay in school.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B73"/>
                </a:solidFill>
                <a:latin typeface="Calibri"/>
              </a:defRPr>
            </a:pPr>
            <a:r>
              <a:rPr dirty="0"/>
              <a:t>All figures are estimates for an illustrative pilot, not audited financials. Benefits depend on real outcomes</a:t>
            </a:r>
            <a:r>
              <a:rPr lang="en-GB" dirty="0"/>
              <a:t>.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"/>
            <a:ext cx="12191695" cy="36576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7A5A"/>
                </a:solidFill>
                <a:latin typeface="Calibri"/>
              </a:defRPr>
            </a:pPr>
            <a:r>
              <a:t>IMPLEMENTATION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4213D"/>
                </a:solidFill>
                <a:latin typeface="Calibri"/>
              </a:defRPr>
            </a:pPr>
            <a:r>
              <a:t>We scale only if the pilot clears three decision gates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645920"/>
            <a:ext cx="1783080" cy="315468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1. Legal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240280"/>
            <a:ext cx="16002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Sign agreements with</a:t>
            </a:r>
            <a:br/>
            <a:r>
              <a:t>8 partner schools.</a:t>
            </a:r>
            <a:br/>
            <a:r>
              <a:t>Data protection and</a:t>
            </a:r>
            <a:br/>
            <a:r>
              <a:t>child safeguarding.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343400"/>
            <a:ext cx="1600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dirty="0"/>
              <a:t>Months 0-</a:t>
            </a:r>
            <a:r>
              <a:rPr lang="en-GB" dirty="0"/>
              <a:t>4</a:t>
            </a:r>
            <a:endParaRPr dirty="0"/>
          </a:p>
        </p:txBody>
      </p:sp>
      <p:sp>
        <p:nvSpPr>
          <p:cNvPr id="10" name="Rectangle 9"/>
          <p:cNvSpPr/>
          <p:nvPr/>
        </p:nvSpPr>
        <p:spPr>
          <a:xfrm>
            <a:off x="2322576" y="1645920"/>
            <a:ext cx="1783080" cy="315468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414016" y="1755648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dirty="0"/>
              <a:t>2. Partner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4016" y="2240280"/>
            <a:ext cx="1600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rPr dirty="0"/>
              <a:t>Collect school records</a:t>
            </a:r>
            <a:br>
              <a:rPr dirty="0"/>
            </a:br>
            <a:r>
              <a:rPr dirty="0"/>
              <a:t>under the signed</a:t>
            </a:r>
            <a:br>
              <a:rPr dirty="0"/>
            </a:br>
            <a:r>
              <a:rPr dirty="0"/>
              <a:t>agreements. Check quality,</a:t>
            </a:r>
            <a:r>
              <a:rPr lang="en-GB" dirty="0"/>
              <a:t> </a:t>
            </a:r>
            <a:r>
              <a:rPr dirty="0"/>
              <a:t>validate on real extracts,</a:t>
            </a:r>
            <a:r>
              <a:rPr lang="en-GB" dirty="0"/>
              <a:t> </a:t>
            </a:r>
            <a:r>
              <a:rPr dirty="0"/>
              <a:t>and set a termly refresh.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4016" y="434340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Months 1-4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33672" y="1645920"/>
            <a:ext cx="1783080" cy="3154680"/>
          </a:xfrm>
          <a:prstGeom prst="rect">
            <a:avLst/>
          </a:prstGeom>
          <a:solidFill>
            <a:srgbClr val="0F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5112" y="1755648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3. Soft 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5112" y="2240280"/>
            <a:ext cx="16002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Rank students on real</a:t>
            </a:r>
            <a:br/>
            <a:r>
              <a:t>data. Review every list</a:t>
            </a:r>
            <a:br/>
            <a:r>
              <a:t>before anything is</a:t>
            </a:r>
            <a:br/>
            <a:r>
              <a:t>made public.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434340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Term 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4768" y="1645920"/>
            <a:ext cx="1783080" cy="315468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36208" y="1755648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4. Live Giving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8" y="2240280"/>
            <a:ext cx="16002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Donors give through</a:t>
            </a:r>
            <a:br/>
            <a:r>
              <a:t>the platform. Money</a:t>
            </a:r>
            <a:br/>
            <a:r>
              <a:t>goes to school fee</a:t>
            </a:r>
            <a:br/>
            <a:r>
              <a:t>accounts.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434340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Terms 1-2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55863" y="1645920"/>
            <a:ext cx="1783080" cy="3154680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47303" y="1755648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213D"/>
                </a:solidFill>
                <a:latin typeface="Calibri"/>
              </a:defRPr>
            </a:pPr>
            <a:r>
              <a:t>5. Measure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3" y="2240280"/>
            <a:ext cx="16002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4213D"/>
                </a:solidFill>
                <a:latin typeface="Calibri"/>
              </a:defRPr>
            </a:pPr>
            <a:r>
              <a:t>Track whether helped</a:t>
            </a:r>
            <a:br/>
            <a:r>
              <a:t>students stay enrolled.</a:t>
            </a:r>
            <a:br/>
            <a:r>
              <a:t>Check payments and</a:t>
            </a:r>
            <a:br/>
            <a:r>
              <a:t>fairness each term.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47303" y="434340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4213D"/>
                </a:solidFill>
                <a:latin typeface="Calibri"/>
              </a:defRPr>
            </a:pPr>
            <a:r>
              <a:t>Each term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66959" y="1645920"/>
            <a:ext cx="1783080" cy="315468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399" y="1755648"/>
            <a:ext cx="1600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6. Scale Decision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399" y="2240280"/>
            <a:ext cx="16002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Add schools or new</a:t>
            </a:r>
            <a:br/>
            <a:r>
              <a:t>support types only if</a:t>
            </a:r>
            <a:br/>
            <a:r>
              <a:t>pilot results justify 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399" y="4343400"/>
            <a:ext cx="1600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End of Year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6272" y="310896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B7A5A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87368" y="310896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B7A5A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98464" y="310896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B7A5A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9560" y="310896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B7A5A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20655" y="3108960"/>
            <a:ext cx="1645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B7A5A"/>
                </a:solidFill>
                <a:latin typeface="Calibri"/>
              </a:defRPr>
            </a:pPr>
            <a:r>
              <a:t>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983480"/>
            <a:ext cx="10972800" cy="384048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2960" y="502920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Scale is unlocked only if these three results hold: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468112"/>
            <a:ext cx="3474720" cy="566928"/>
          </a:xfrm>
          <a:prstGeom prst="rect">
            <a:avLst/>
          </a:prstGeom>
          <a:solidFill>
            <a:srgbClr val="E8E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31519" y="5541264"/>
            <a:ext cx="32918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4213D"/>
                </a:solidFill>
                <a:latin typeface="Calibri"/>
              </a:defRPr>
            </a:pPr>
            <a:r>
              <a:t>The model identifies at least 40% of students who later drop out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43400" y="5468112"/>
            <a:ext cx="3474720" cy="566928"/>
          </a:xfrm>
          <a:prstGeom prst="rect">
            <a:avLst/>
          </a:prstGeom>
          <a:solidFill>
            <a:srgbClr val="E8E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434840" y="5541264"/>
            <a:ext cx="32918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4213D"/>
                </a:solidFill>
                <a:latin typeface="Calibri"/>
              </a:defRPr>
            </a:pPr>
            <a:r>
              <a:t>Payment error rates stay below 10%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46720" y="5468112"/>
            <a:ext cx="3474720" cy="566928"/>
          </a:xfrm>
          <a:prstGeom prst="rect">
            <a:avLst/>
          </a:prstGeom>
          <a:solidFill>
            <a:srgbClr val="E8E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138160" y="5541264"/>
            <a:ext cx="32918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4213D"/>
                </a:solidFill>
                <a:latin typeface="Calibri"/>
              </a:defRPr>
            </a:pPr>
            <a:r>
              <a:t>Helped students stay in school longer within two terms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B73"/>
                </a:solidFill>
                <a:latin typeface="Calibri"/>
              </a:defRPr>
            </a:pPr>
            <a:r>
              <a:t>Every gate requires a formal review. Capital unlocks the next stage only when the previous one clears.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54864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46304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7F1E8"/>
                </a:solidFill>
                <a:latin typeface="Calibri"/>
              </a:defRPr>
            </a:pPr>
            <a:r>
              <a:t>Fund an 8-school Year-1 pilot to prove</a:t>
            </a:r>
            <a:br/>
            <a:r>
              <a:t>fee-support matching on real school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2834640"/>
            <a:ext cx="7315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✓  About KES 2.0M for platform setup and operations (donor gifts go to schools separately).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FFFFFF"/>
                </a:solidFill>
                <a:latin typeface="Calibri"/>
              </a:defRPr>
            </a:pPr>
            <a:r>
              <a:t>✓  A part-time analyst and school liaison to run the pilot.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FFFFFF"/>
                </a:solidFill>
                <a:latin typeface="Calibri"/>
              </a:defRPr>
            </a:pPr>
            <a:r>
              <a:t>✓  Access to partner school records under signed agreements.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FFFFFF"/>
                </a:solidFill>
                <a:latin typeface="Calibri"/>
              </a:defRPr>
            </a:pPr>
            <a:r>
              <a:t>✓  Live fee giving with human review of every student list before it is published.</a:t>
            </a:r>
          </a:p>
          <a:p>
            <a:pPr algn="l">
              <a:spcBef>
                <a:spcPts val="1000"/>
              </a:spcBef>
              <a:defRPr sz="1600" b="0">
                <a:solidFill>
                  <a:srgbClr val="FFFFFF"/>
                </a:solidFill>
                <a:latin typeface="Calibri"/>
              </a:defRPr>
            </a:pPr>
            <a:r>
              <a:t>✓  A decision to expand only after pilot results justify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7F1E8"/>
                </a:solidFill>
                <a:latin typeface="Calibri"/>
              </a:defRPr>
            </a:pPr>
            <a:r>
              <a:t>We can direct fee support to the students most likely to leave school,</a:t>
            </a:r>
            <a:br/>
            <a:r>
              <a:t>replacing guesswork with transparent, auditable matching.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B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1440"/>
            <a:ext cx="12191695" cy="36576"/>
          </a:xfrm>
          <a:prstGeom prst="rect">
            <a:avLst/>
          </a:prstGeom>
          <a:solidFill>
            <a:srgbClr val="F4B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011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7A5A"/>
                </a:solidFill>
                <a:latin typeface="Calibri"/>
              </a:defRPr>
            </a:pPr>
            <a:r>
              <a:t>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4213D"/>
                </a:solidFill>
                <a:latin typeface="Calibri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4213D"/>
                </a:solidFill>
                <a:latin typeface="Calibri"/>
              </a:defRPr>
            </a:pPr>
            <a:r>
              <a:t>Adhola, F., Ochola, J., &amp; Tikoko, B. (2025). Donor funding and school operations, Nakuru County.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Adelman, C. (2006). The Toolbox Revisited. U.S. Dept. of Education.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Basch, C. E. (2011). Healthier students are better learners. J. School Health, 81(10).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Childress, M. (2015). Dynamics of education in Kenya. The School Fund.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Cortez, P. &amp; Silva, A. (2008). Using data mining to predict student performance.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Cursor. (2026). Auto (Composer) drafting assistance. cursor.com.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Glennerster, R. et al. (2011). Access and quality in Kenyan education. J-PAL / IPA.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Gongera, E. &amp; Okoth, N. (2013). Alternative financing, Kisii County.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Kenya National Bureau of Statistics. (2025). Economic Survey 2025.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Lundberg, S. &amp; Lee, S.-I. (2017). Interpreting model predictions. NeurIPS 30.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Otieno, M. &amp; Ochieng, J. (2020). 100% transition policy, Machakos.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Realinho, V. et al. (2022). Predicting student dropout and success.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RELI Africa. (2020). Status of secondary education in Kenya.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Tinto, V. (1993). Leaving College (2nd ed.). U. of Chicago Press.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t>UNESCO IICBA. (2025). Kenya education data brief.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029200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4213D"/>
                </a:solidFill>
                <a:latin typeface="Calibri"/>
              </a:defRPr>
            </a:pPr>
            <a:r>
              <a:rPr dirty="0"/>
              <a:t>Figure sources:</a:t>
            </a:r>
          </a:p>
          <a:p>
            <a:pPr algn="l">
              <a:spcBef>
                <a:spcPts val="6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rPr dirty="0"/>
              <a:t>Slide 2: Author charts from UNESCO IICBA (2025) and KNBS (2025)</a:t>
            </a:r>
          </a:p>
          <a:p>
            <a:pPr algn="l">
              <a:spcBef>
                <a:spcPts val="6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rPr dirty="0"/>
              <a:t>Slide 3: Illustrative positioning map (author)</a:t>
            </a:r>
          </a:p>
          <a:p>
            <a:pPr algn="l">
              <a:spcBef>
                <a:spcPts val="6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rPr dirty="0"/>
              <a:t>Slide 4: Product layer diagram (author)</a:t>
            </a:r>
          </a:p>
          <a:p>
            <a:pPr algn="l">
              <a:spcBef>
                <a:spcPts val="6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rPr dirty="0"/>
              <a:t>Slide 5: Gift journey and operations flow (author)</a:t>
            </a:r>
          </a:p>
          <a:p>
            <a:pPr algn="l">
              <a:spcBef>
                <a:spcPts val="6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rPr dirty="0"/>
              <a:t>Slide 6: Model comparison from project pipeline on test data</a:t>
            </a:r>
          </a:p>
          <a:p>
            <a:pPr algn="l">
              <a:spcBef>
                <a:spcPts val="600"/>
              </a:spcBef>
              <a:defRPr sz="1100" b="0">
                <a:solidFill>
                  <a:srgbClr val="14213D"/>
                </a:solidFill>
                <a:latin typeface="Calibri"/>
              </a:defRPr>
            </a:pPr>
            <a:r>
              <a:rPr dirty="0"/>
              <a:t>Slide 7: Year-1 economics chart (illustrative, author)</a:t>
            </a:r>
          </a:p>
          <a:p>
            <a:pPr algn="l">
              <a:spcBef>
                <a:spcPts val="600"/>
              </a:spcBef>
              <a:defRPr sz="800" b="0">
                <a:solidFill>
                  <a:srgbClr val="14213D"/>
                </a:solidFill>
                <a:latin typeface="Calibri"/>
              </a:defRPr>
            </a:pPr>
            <a:endParaRPr dirty="0"/>
          </a:p>
          <a:p>
            <a:pPr algn="l">
              <a:spcBef>
                <a:spcPts val="600"/>
              </a:spcBef>
              <a:defRPr sz="1100" b="1">
                <a:solidFill>
                  <a:srgbClr val="5C6B73"/>
                </a:solidFill>
                <a:latin typeface="Calibri"/>
              </a:defRPr>
            </a:pPr>
            <a:r>
              <a:rPr dirty="0"/>
              <a:t>All results are from proof-of-concept data (1,000 students). Not yet validated on live school records.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B7A5A"/>
                </a:solidFill>
                <a:latin typeface="Calibri"/>
              </a:defRPr>
            </a:pPr>
            <a:r>
              <a:t>Live demo: jesyldah.github.io/ElimuMatch  |  Code: github.com/Jesyldah/ElimuMatch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1346</Words>
  <Application>Microsoft Office PowerPoint</Application>
  <PresentationFormat>Widescreen</PresentationFormat>
  <Paragraphs>122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Jess W</cp:lastModifiedBy>
  <cp:revision>1</cp:revision>
  <dcterms:created xsi:type="dcterms:W3CDTF">2013-01-27T09:14:16Z</dcterms:created>
  <dcterms:modified xsi:type="dcterms:W3CDTF">2026-09-04T20:07:29Z</dcterms:modified>
  <cp:category/>
</cp:coreProperties>
</file>