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54864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ElimuMatch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7F1E8"/>
                </a:solidFill>
                <a:latin typeface="Calibri"/>
              </a:defRPr>
            </a:pPr>
            <a:r>
              <a:t>Matching Support to Retention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FE9"/>
                </a:solidFill>
                <a:latin typeface="Calibri"/>
              </a:defRPr>
            </a:pPr>
            <a:r>
              <a:t>A data-driven platform for fee support to Kenyan secondary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FE9"/>
                </a:solidFill>
                <a:latin typeface="Calibri"/>
              </a:defRPr>
            </a:pPr>
            <a:r>
              <a:t>Prepared for Impact Investors, CSR Partners, and Education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FE9"/>
                </a:solidFill>
                <a:latin typeface="Calibri"/>
              </a:defRPr>
            </a:pPr>
            <a:r>
              <a:t>Jesyldah  |  Founder  | 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B942"/>
                </a:solidFill>
                <a:latin typeface="Calibri"/>
              </a:defRPr>
            </a:pPr>
            <a:r>
              <a:t>jesyldah.github.io/ElimuMatch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CONTEXT AND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Kenya expanded access, but nearly half of students still do not finish secondary school</a:t>
            </a:r>
          </a:p>
        </p:txBody>
      </p:sp>
      <p:pic>
        <p:nvPicPr>
          <p:cNvPr id="6" name="Picture 5" descr="ext_02_kenya_comple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029200" cy="2745366"/>
          </a:xfrm>
          <a:prstGeom prst="rect">
            <a:avLst/>
          </a:prstGeom>
        </p:spPr>
      </p:pic>
      <p:pic>
        <p:nvPicPr>
          <p:cNvPr id="7" name="Picture 6" descr="ext_03_kenya_access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029200" cy="27578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t>4.32 million students were enrolled by 2024, all vulnerable to fee pressure and income shocks.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People want to help, but support follows personal connections instead of reaching those who need it most.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Sources: UNESCO IICBA (2025) completion estimates; KNBS Economic Survey 2025, secondary enrolment 2020-2024.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EVIDENCE OF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NGO help often focuses on ASAL, while students elsewhere also face fee pressure and dropout risk</a:t>
            </a:r>
          </a:p>
        </p:txBody>
      </p:sp>
      <p:pic>
        <p:nvPicPr>
          <p:cNvPr id="6" name="Picture 5" descr="09_perceptu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303520" cy="4011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213D"/>
                </a:solidFill>
                <a:latin typeface="Calibri"/>
              </a:defRPr>
            </a:pPr>
            <a:r>
              <a:t>How support is directed today: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•  Many NGO programs concentrate on arid and semi-arid lands (ASAL), while students elsewhere also face fee pressure and dropout risk.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•  Most individual donors rely on personal contacts, so students without connections are overlooked.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•  Bursary contests run once a year with heavy paperwork, leaving gaps the rest of the time.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•  Crowdfunding and school lists rarely rank who is most at risk of leaving.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1B7A5A"/>
                </a:solidFill>
                <a:latin typeface="Calibri"/>
              </a:defRPr>
            </a:pPr>
            <a:r>
              <a:t>ElimuMatch covers all 47 counties: donors can choose any place, and priority follows measured risk, not geography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ASAL focus is a common NGO pattern; ElimuMatch does not claim ASAL work is unnecessary. Bursaries and ElimuMatch are complements.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ElimuMatch identifies at-risk students and lets donors support them in four simple steps</a:t>
            </a:r>
          </a:p>
        </p:txBody>
      </p:sp>
      <p:pic>
        <p:nvPicPr>
          <p:cNvPr id="6" name="Picture 5" descr="01_product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486400" cy="30706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4630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7A5A"/>
                </a:solidFill>
                <a:latin typeface="Calibri"/>
              </a:defRPr>
            </a:pPr>
            <a:r>
              <a:t>What donors experience: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They pick a county, choose a school, see a student's fee balance, give, and get a receipt.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600" b="1">
                <a:solidFill>
                  <a:srgbClr val="1B7A5A"/>
                </a:solidFill>
                <a:latin typeface="Calibri"/>
              </a:defRPr>
            </a:pPr>
            <a:r>
              <a:t>What happens behind the scenes: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Our system scores each student's risk of dropping out. Only students who need fee help appear. School staff can see the reasons behind each score.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14213D"/>
                </a:solidFill>
                <a:latin typeface="Calibri"/>
              </a:defRPr>
            </a:pPr>
            <a:r>
              <a:t>Every shilling goes directly to the school's fee account. ElimuMatch does not take a cut.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Privacy: donors see anonymized profiles only. Student identities are protected. Orphan status is never used as an input.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A donor chooses where to give, pays school fees, and gets a receipt</a:t>
            </a:r>
          </a:p>
        </p:txBody>
      </p:sp>
      <p:pic>
        <p:nvPicPr>
          <p:cNvPr id="6" name="Picture 5" descr="10_gif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417320"/>
            <a:ext cx="8500188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t>Every gift goes directly to the school's fee account. Oldest unpaid terms are cleared first.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Overpayments are blocked automatically, and every transaction is tracked and auditable.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Live demo: jesyldah.github.io/ElimuMatch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Our system identifies about two out of three students who would drop out, twice the nearest alternative</a:t>
            </a:r>
          </a:p>
        </p:txBody>
      </p:sp>
      <p:pic>
        <p:nvPicPr>
          <p:cNvPr id="6" name="Picture 5" descr="08_selectio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400800" cy="4367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46304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t>We tested four different approaches.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Logistic Regression is the one we selected: it catches about 67% of students who later drop out. Gradient Boosting catches only about 33%.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14213D"/>
                </a:solidFill>
                <a:latin typeface="Calibri"/>
              </a:defRPr>
            </a:pPr>
            <a:r>
              <a:t>The strongest warning signs are health problems, family economic pressure, and falling grades.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School staff see why each student is flagged, so they can take informed action. Donors see only a simple, clear profile.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Results from proof-of-concept data (1,000 students). Real school validation is the next step. Detection is weaker where nearly all students stay enrolled.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An 8-school pilot returns about KES 2.6 for every KES 1 of platform cost</a:t>
            </a:r>
          </a:p>
        </p:txBody>
      </p:sp>
      <p:pic>
        <p:nvPicPr>
          <p:cNvPr id="6" name="Picture 5" descr="06_year1_econo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486400" cy="3318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13D"/>
                </a:solidFill>
                <a:latin typeface="Calibri"/>
              </a:defRPr>
            </a:pPr>
            <a:r>
              <a:t>Year-1 pilot: 8 schools, about 1,000 students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It costs about KES 2.0M to set up and run the platform for one year.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Donor gifts of about KES 4.0M pass through to schools separately.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B7A5A"/>
                </a:solidFill>
                <a:latin typeface="Calibri"/>
              </a:defRPr>
            </a:pPr>
            <a:r>
              <a:t>The estimated benefits total about KES 5.2M from better targeting, fewer dropouts, and staff time saved.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0">
                <a:solidFill>
                  <a:srgbClr val="5C6B73"/>
                </a:solidFill>
                <a:latin typeface="Calibri"/>
              </a:defRPr>
            </a:pPr>
            <a:r>
              <a:t>Conservative estimate: roughly break-even.</a:t>
            </a:r>
          </a:p>
          <a:p>
            <a:pPr algn="l">
              <a:spcBef>
                <a:spcPts val="600"/>
              </a:spcBef>
              <a:defRPr sz="1600" b="1">
                <a:solidFill>
                  <a:srgbClr val="1B7A5A"/>
                </a:solidFill>
                <a:latin typeface="Calibri"/>
              </a:defRPr>
            </a:pPr>
            <a:r>
              <a:t>Base case: 2.6x return.  Best case: 5.4x.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We measure success by whether priority students actually receive gifts, whether payments land without errors, and whether helped students stay in school.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All figures are estimates for an illustrative pilot, not audited financials. Benefits depend on real outcomes, not test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We scale only if the pilot clears three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103120" cy="31546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1. Legal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182879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Sign agreements with</a:t>
            </a:r>
            <a:br/>
            <a:r>
              <a:t>8 partner schools.</a:t>
            </a:r>
            <a:br/>
            <a:r>
              <a:t>Set up data protection</a:t>
            </a:r>
            <a:br/>
            <a:r>
              <a:t>and child safeguarding.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Months 0-2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1645920"/>
            <a:ext cx="2103120" cy="315468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17830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2. Soft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286000"/>
            <a:ext cx="182879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Rank students internally.</a:t>
            </a:r>
            <a:br/>
            <a:r>
              <a:t>Review every list before</a:t>
            </a:r>
            <a:br/>
            <a:r>
              <a:t>anything is made public.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42976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Term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8656" y="1645920"/>
            <a:ext cx="2103120" cy="3154680"/>
          </a:xfrm>
          <a:prstGeom prst="rect">
            <a:avLst/>
          </a:prstGeom>
          <a:solidFill>
            <a:srgbClr val="0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5816" y="17830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3. Live Giving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2286000"/>
            <a:ext cx="182879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Donors give through</a:t>
            </a:r>
            <a:br/>
            <a:r>
              <a:t>the platform. Money</a:t>
            </a:r>
            <a:br/>
            <a:r>
              <a:t>goes directly to</a:t>
            </a:r>
            <a:br/>
            <a:r>
              <a:t>school fee accounts.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6" y="42976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Terms 1-2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52944" y="1645920"/>
            <a:ext cx="2103120" cy="3154680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0104" y="17830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213D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0104" y="2286000"/>
            <a:ext cx="182879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4213D"/>
                </a:solidFill>
                <a:latin typeface="Calibri"/>
              </a:defRPr>
            </a:pPr>
            <a:r>
              <a:t>Track whether helped</a:t>
            </a:r>
            <a:br/>
            <a:r>
              <a:t>students stay in school.</a:t>
            </a:r>
            <a:br/>
            <a:r>
              <a:t>Check payment accuracy</a:t>
            </a:r>
            <a:br/>
            <a:r>
              <a:t>and fairness each term.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0104" y="42976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213D"/>
                </a:solidFill>
                <a:latin typeface="Calibri"/>
              </a:defRPr>
            </a:pPr>
            <a:r>
              <a:t>Each term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57232" y="1645920"/>
            <a:ext cx="2103120" cy="31546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4392" y="17830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5. Scale 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92" y="2286000"/>
            <a:ext cx="182879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Add more schools or</a:t>
            </a:r>
            <a:br/>
            <a:r>
              <a:t>new types of support</a:t>
            </a:r>
            <a:br/>
            <a:r>
              <a:t>only if the pilot</a:t>
            </a:r>
            <a:br/>
            <a:r>
              <a:t>results justify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94392" y="4297680"/>
            <a:ext cx="18287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End of Year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1488" y="31089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31089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0063" y="31089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1" y="31089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983480"/>
            <a:ext cx="10972800" cy="384048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0292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Scale is unlocked only if these three results hold: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19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The model identifies at least 40% of students who later drop 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Payment error rates stay below 10%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Helped students stay in school longer within two terms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Every gate requires a formal review. Capital unlocks the next stage only when the previous one clears.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7F1E8"/>
                </a:solidFill>
                <a:latin typeface="Calibri"/>
              </a:defRPr>
            </a:pPr>
            <a:r>
              <a:t>Fund an 8-school Year-1 pilot to prove</a:t>
            </a:r>
            <a:br/>
            <a:r>
              <a:t>fee-support matching on real school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83464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About KES 2.0M for platform setup and operations (donor gifts go to schools separately).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 part-time analyst and school liaison to run the pilot.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Access to partner school records under signed agreements.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Live fee giving with human review of every student list before it is published.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 decision to expand only after pilot results justify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7F1E8"/>
                </a:solidFill>
                <a:latin typeface="Calibri"/>
              </a:defRPr>
            </a:pPr>
            <a:r>
              <a:t>We can direct fee support to the students most likely to leave school,</a:t>
            </a:r>
            <a:br/>
            <a:r>
              <a:t>replacing guesswork with transparent, auditable matching.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4213D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4213D"/>
                </a:solidFill>
                <a:latin typeface="Calibri"/>
              </a:defRPr>
            </a:pPr>
            <a:r>
              <a:t>Adhola, F., Ochola, J., &amp; Tikoko, B. (2025). Donor funding and school operations, Nakuru County.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Adelman, C. (2006). The Toolbox Revisited. U.S. Dept. of Education.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Basch, C. E. (2011). Healthier students are better learners. J. School Health, 81(10).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Childress, M. (2015). Dynamics of education in Kenya. The School Fund.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Cortez, P. &amp; Silva, A. (2008). Using data mining to predict student performance.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Cursor. (2026). Auto (Composer) drafting assistance. cursor.com.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Glennerster, R. et al. (2011). Access and quality in Kenyan education. J-PAL / IPA.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Gongera, E. &amp; Okoth, N. (2013). Alternative financing, Kisii County.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Kenya National Bureau of Statistics. (2025). Economic Survey 2025.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Lundberg, S. &amp; Lee, S.-I. (2017). Interpreting model predictions. NeurIPS 30.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Otieno, M. &amp; Ochieng, J. (2020). 100% transition policy, Machakos.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Realinho, V. et al. (2022). Predicting student dropout and success.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RELI Africa. (2020). Status of secondary education in Kenya.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Tinto, V. (1993). Leaving College (2nd ed.). U. of Chicago Press.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UNESCO IICBA. (2025). Kenya education data brief.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213D"/>
                </a:solidFill>
                <a:latin typeface="Calibri"/>
              </a:defRPr>
            </a:pPr>
            <a:r>
              <a:t>Figure sources: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2: Author charts from UNESCO IICBA (2025) and KNBS (2025)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3: Illustrative positioning map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4: Product layer diagram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5: Gift journey and operations flow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6: Model comparison from project pipeline on test data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Slide 7: Year-1 economics chart (illustrative, author)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1">
                <a:solidFill>
                  <a:srgbClr val="14213D"/>
                </a:solidFill>
                <a:latin typeface="Calibri"/>
              </a:defRPr>
            </a:pPr>
            <a:r>
              <a:t>AI-assisted drafting: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Report drafting supported by Cursor Auto (Composer) (Cursor, 2026). All decisions and claims are the author's.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100" b="1">
                <a:solidFill>
                  <a:srgbClr val="5C6B73"/>
                </a:solidFill>
                <a:latin typeface="Calibri"/>
              </a:defRPr>
            </a:pPr>
            <a:r>
              <a:t>All results are from proof-of-concept data (1,000 students). Not yet validated on live school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7A5A"/>
                </a:solidFill>
                <a:latin typeface="Calibri"/>
              </a:defRPr>
            </a:pPr>
            <a:r>
              <a:t>Live demo: jesyldah.github.io/ElimuMatch  |  Code: github.com/Jesyldah/ElimuMatch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