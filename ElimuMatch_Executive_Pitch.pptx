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s W" userId="0a9e92bfc7a9bd4f" providerId="LiveId" clId="{44A44528-DB36-4F8C-9869-CF35F0FB3EAC}"/>
    <pc:docChg chg="undo redo custSel addSld delSld modSld">
      <pc:chgData name="Jess W" userId="0a9e92bfc7a9bd4f" providerId="LiveId" clId="{44A44528-DB36-4F8C-9869-CF35F0FB3EAC}" dt="2026-09-09T14:40:38.539" v="698" actId="20577"/>
      <pc:docMkLst>
        <pc:docMk/>
      </pc:docMkLst>
      <pc:sldChg chg="addSp delSp modSp mod">
        <pc:chgData name="Jess W" userId="0a9e92bfc7a9bd4f" providerId="LiveId" clId="{44A44528-DB36-4F8C-9869-CF35F0FB3EAC}" dt="2026-09-09T14:40:38.539" v="698" actId="20577"/>
        <pc:sldMkLst>
          <pc:docMk/>
          <pc:sldMk cId="0" sldId="256"/>
        </pc:sldMkLst>
        <pc:spChg chg="mod">
          <ac:chgData name="Jess W" userId="0a9e92bfc7a9bd4f" providerId="LiveId" clId="{44A44528-DB36-4F8C-9869-CF35F0FB3EAC}" dt="2026-09-08T09:26:33.148" v="45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Jess W" userId="0a9e92bfc7a9bd4f" providerId="LiveId" clId="{44A44528-DB36-4F8C-9869-CF35F0FB3EAC}" dt="2026-09-08T10:06:32.233" v="96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Jess W" userId="0a9e92bfc7a9bd4f" providerId="LiveId" clId="{44A44528-DB36-4F8C-9869-CF35F0FB3EAC}" dt="2026-09-09T14:40:38.539" v="698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Jess W" userId="0a9e92bfc7a9bd4f" providerId="LiveId" clId="{44A44528-DB36-4F8C-9869-CF35F0FB3EAC}" dt="2026-09-08T10:05:33.055" v="72" actId="1076"/>
          <ac:spMkLst>
            <pc:docMk/>
            <pc:sldMk cId="0" sldId="256"/>
            <ac:spMk id="9" creationId="{00000000-0000-0000-0000-000000000000}"/>
          </ac:spMkLst>
        </pc:spChg>
        <pc:spChg chg="del">
          <ac:chgData name="Jess W" userId="0a9e92bfc7a9bd4f" providerId="LiveId" clId="{44A44528-DB36-4F8C-9869-CF35F0FB3EAC}" dt="2026-09-08T09:23:38.824" v="27" actId="478"/>
          <ac:spMkLst>
            <pc:docMk/>
            <pc:sldMk cId="0" sldId="256"/>
            <ac:spMk id="13" creationId="{00000000-0000-0000-0000-000000000000}"/>
          </ac:spMkLst>
        </pc:spChg>
        <pc:picChg chg="add del mod">
          <ac:chgData name="Jess W" userId="0a9e92bfc7a9bd4f" providerId="LiveId" clId="{44A44528-DB36-4F8C-9869-CF35F0FB3EAC}" dt="2026-09-08T09:26:22.909" v="41" actId="478"/>
          <ac:picMkLst>
            <pc:docMk/>
            <pc:sldMk cId="0" sldId="256"/>
            <ac:picMk id="10" creationId="{00000000-0000-0000-0000-000000000000}"/>
          </ac:picMkLst>
        </pc:picChg>
        <pc:picChg chg="mod">
          <ac:chgData name="Jess W" userId="0a9e92bfc7a9bd4f" providerId="LiveId" clId="{44A44528-DB36-4F8C-9869-CF35F0FB3EAC}" dt="2026-09-08T10:04:02.429" v="49" actId="14100"/>
          <ac:picMkLst>
            <pc:docMk/>
            <pc:sldMk cId="0" sldId="256"/>
            <ac:picMk id="11" creationId="{00000000-0000-0000-0000-000000000000}"/>
          </ac:picMkLst>
        </pc:picChg>
        <pc:picChg chg="add del">
          <ac:chgData name="Jess W" userId="0a9e92bfc7a9bd4f" providerId="LiveId" clId="{44A44528-DB36-4F8C-9869-CF35F0FB3EAC}" dt="2026-09-08T09:26:22.385" v="40" actId="478"/>
          <ac:picMkLst>
            <pc:docMk/>
            <pc:sldMk cId="0" sldId="256"/>
            <ac:picMk id="12" creationId="{00000000-0000-0000-0000-000000000000}"/>
          </ac:picMkLst>
        </pc:picChg>
      </pc:sldChg>
      <pc:sldChg chg="modSp mod">
        <pc:chgData name="Jess W" userId="0a9e92bfc7a9bd4f" providerId="LiveId" clId="{44A44528-DB36-4F8C-9869-CF35F0FB3EAC}" dt="2026-09-08T08:59:24.351" v="1" actId="1076"/>
        <pc:sldMkLst>
          <pc:docMk/>
          <pc:sldMk cId="0" sldId="257"/>
        </pc:sldMkLst>
        <pc:spChg chg="mod">
          <ac:chgData name="Jess W" userId="0a9e92bfc7a9bd4f" providerId="LiveId" clId="{44A44528-DB36-4F8C-9869-CF35F0FB3EAC}" dt="2026-09-08T08:59:24.351" v="1" actId="1076"/>
          <ac:spMkLst>
            <pc:docMk/>
            <pc:sldMk cId="0" sldId="257"/>
            <ac:spMk id="5" creationId="{00000000-0000-0000-0000-000000000000}"/>
          </ac:spMkLst>
        </pc:spChg>
      </pc:sldChg>
      <pc:sldChg chg="addSp delSp modSp mod">
        <pc:chgData name="Jess W" userId="0a9e92bfc7a9bd4f" providerId="LiveId" clId="{44A44528-DB36-4F8C-9869-CF35F0FB3EAC}" dt="2026-09-08T19:11:03.623" v="598" actId="20577"/>
        <pc:sldMkLst>
          <pc:docMk/>
          <pc:sldMk cId="0" sldId="258"/>
        </pc:sldMkLst>
        <pc:spChg chg="mod">
          <ac:chgData name="Jess W" userId="0a9e92bfc7a9bd4f" providerId="LiveId" clId="{44A44528-DB36-4F8C-9869-CF35F0FB3EAC}" dt="2026-09-08T08:59:30.453" v="2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Jess W" userId="0a9e92bfc7a9bd4f" providerId="LiveId" clId="{44A44528-DB36-4F8C-9869-CF35F0FB3EAC}" dt="2026-09-08T19:11:03.623" v="598" actId="20577"/>
          <ac:spMkLst>
            <pc:docMk/>
            <pc:sldMk cId="0" sldId="258"/>
            <ac:spMk id="7" creationId="{00000000-0000-0000-0000-000000000000}"/>
          </ac:spMkLst>
        </pc:spChg>
        <pc:spChg chg="del">
          <ac:chgData name="Jess W" userId="0a9e92bfc7a9bd4f" providerId="LiveId" clId="{44A44528-DB36-4F8C-9869-CF35F0FB3EAC}" dt="2026-09-08T09:00:44.473" v="7" actId="478"/>
          <ac:spMkLst>
            <pc:docMk/>
            <pc:sldMk cId="0" sldId="258"/>
            <ac:spMk id="8" creationId="{00000000-0000-0000-0000-000000000000}"/>
          </ac:spMkLst>
        </pc:spChg>
        <pc:spChg chg="add">
          <ac:chgData name="Jess W" userId="0a9e92bfc7a9bd4f" providerId="LiveId" clId="{44A44528-DB36-4F8C-9869-CF35F0FB3EAC}" dt="2026-09-08T16:14:57.499" v="492"/>
          <ac:spMkLst>
            <pc:docMk/>
            <pc:sldMk cId="0" sldId="258"/>
            <ac:spMk id="8" creationId="{0A497DB0-278A-B4FE-F703-19DD0C1E0E4E}"/>
          </ac:spMkLst>
        </pc:spChg>
        <pc:spChg chg="add">
          <ac:chgData name="Jess W" userId="0a9e92bfc7a9bd4f" providerId="LiveId" clId="{44A44528-DB36-4F8C-9869-CF35F0FB3EAC}" dt="2026-09-08T16:24:07.401" v="512"/>
          <ac:spMkLst>
            <pc:docMk/>
            <pc:sldMk cId="0" sldId="258"/>
            <ac:spMk id="9" creationId="{0C6C29B7-605F-833B-231D-82B20040C9C7}"/>
          </ac:spMkLst>
        </pc:spChg>
        <pc:picChg chg="add del mod">
          <ac:chgData name="Jess W" userId="0a9e92bfc7a9bd4f" providerId="LiveId" clId="{44A44528-DB36-4F8C-9869-CF35F0FB3EAC}" dt="2026-09-08T10:12:57.129" v="100" actId="478"/>
          <ac:picMkLst>
            <pc:docMk/>
            <pc:sldMk cId="0" sldId="258"/>
            <ac:picMk id="8" creationId="{8E1956F0-2089-DAC7-601C-6E6B5D6A4B6D}"/>
          </ac:picMkLst>
        </pc:picChg>
        <pc:picChg chg="add del mod">
          <ac:chgData name="Jess W" userId="0a9e92bfc7a9bd4f" providerId="LiveId" clId="{44A44528-DB36-4F8C-9869-CF35F0FB3EAC}" dt="2026-09-08T10:15:38.970" v="219" actId="478"/>
          <ac:picMkLst>
            <pc:docMk/>
            <pc:sldMk cId="0" sldId="258"/>
            <ac:picMk id="9" creationId="{AA8A7659-DD38-4C1E-BA62-CE6F9188D6BF}"/>
          </ac:picMkLst>
        </pc:picChg>
      </pc:sldChg>
      <pc:sldChg chg="delSp modSp mod">
        <pc:chgData name="Jess W" userId="0a9e92bfc7a9bd4f" providerId="LiveId" clId="{44A44528-DB36-4F8C-9869-CF35F0FB3EAC}" dt="2026-09-08T19:20:46.332" v="600" actId="20577"/>
        <pc:sldMkLst>
          <pc:docMk/>
          <pc:sldMk cId="0" sldId="259"/>
        </pc:sldMkLst>
        <pc:spChg chg="mod">
          <ac:chgData name="Jess W" userId="0a9e92bfc7a9bd4f" providerId="LiveId" clId="{44A44528-DB36-4F8C-9869-CF35F0FB3EAC}" dt="2026-09-08T09:02:54.464" v="19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Jess W" userId="0a9e92bfc7a9bd4f" providerId="LiveId" clId="{44A44528-DB36-4F8C-9869-CF35F0FB3EAC}" dt="2026-09-08T09:02:51.215" v="18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Jess W" userId="0a9e92bfc7a9bd4f" providerId="LiveId" clId="{44A44528-DB36-4F8C-9869-CF35F0FB3EAC}" dt="2026-09-08T19:20:46.332" v="600" actId="20577"/>
          <ac:spMkLst>
            <pc:docMk/>
            <pc:sldMk cId="0" sldId="259"/>
            <ac:spMk id="7" creationId="{00000000-0000-0000-0000-000000000000}"/>
          </ac:spMkLst>
        </pc:spChg>
        <pc:spChg chg="del">
          <ac:chgData name="Jess W" userId="0a9e92bfc7a9bd4f" providerId="LiveId" clId="{44A44528-DB36-4F8C-9869-CF35F0FB3EAC}" dt="2026-09-08T09:00:58.376" v="8" actId="478"/>
          <ac:spMkLst>
            <pc:docMk/>
            <pc:sldMk cId="0" sldId="259"/>
            <ac:spMk id="8" creationId="{00000000-0000-0000-0000-000000000000}"/>
          </ac:spMkLst>
        </pc:spChg>
      </pc:sldChg>
      <pc:sldChg chg="modSp mod">
        <pc:chgData name="Jess W" userId="0a9e92bfc7a9bd4f" providerId="LiveId" clId="{44A44528-DB36-4F8C-9869-CF35F0FB3EAC}" dt="2026-09-08T09:02:37.061" v="17" actId="1076"/>
        <pc:sldMkLst>
          <pc:docMk/>
          <pc:sldMk cId="0" sldId="260"/>
        </pc:sldMkLst>
        <pc:picChg chg="mod">
          <ac:chgData name="Jess W" userId="0a9e92bfc7a9bd4f" providerId="LiveId" clId="{44A44528-DB36-4F8C-9869-CF35F0FB3EAC}" dt="2026-09-08T09:02:37.061" v="17" actId="1076"/>
          <ac:picMkLst>
            <pc:docMk/>
            <pc:sldMk cId="0" sldId="260"/>
            <ac:picMk id="6" creationId="{00000000-0000-0000-0000-000000000000}"/>
          </ac:picMkLst>
        </pc:picChg>
      </pc:sldChg>
      <pc:sldChg chg="delSp modSp mod">
        <pc:chgData name="Jess W" userId="0a9e92bfc7a9bd4f" providerId="LiveId" clId="{44A44528-DB36-4F8C-9869-CF35F0FB3EAC}" dt="2026-09-08T10:16:27.213" v="227" actId="123"/>
        <pc:sldMkLst>
          <pc:docMk/>
          <pc:sldMk cId="0" sldId="261"/>
        </pc:sldMkLst>
        <pc:spChg chg="mod">
          <ac:chgData name="Jess W" userId="0a9e92bfc7a9bd4f" providerId="LiveId" clId="{44A44528-DB36-4F8C-9869-CF35F0FB3EAC}" dt="2026-09-08T09:00:06.973" v="5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Jess W" userId="0a9e92bfc7a9bd4f" providerId="LiveId" clId="{44A44528-DB36-4F8C-9869-CF35F0FB3EAC}" dt="2026-09-08T10:16:27.213" v="227" actId="123"/>
          <ac:spMkLst>
            <pc:docMk/>
            <pc:sldMk cId="0" sldId="261"/>
            <ac:spMk id="7" creationId="{00000000-0000-0000-0000-000000000000}"/>
          </ac:spMkLst>
        </pc:spChg>
        <pc:spChg chg="del">
          <ac:chgData name="Jess W" userId="0a9e92bfc7a9bd4f" providerId="LiveId" clId="{44A44528-DB36-4F8C-9869-CF35F0FB3EAC}" dt="2026-09-08T09:01:11.786" v="9" actId="478"/>
          <ac:spMkLst>
            <pc:docMk/>
            <pc:sldMk cId="0" sldId="261"/>
            <ac:spMk id="8" creationId="{00000000-0000-0000-0000-000000000000}"/>
          </ac:spMkLst>
        </pc:spChg>
        <pc:picChg chg="mod">
          <ac:chgData name="Jess W" userId="0a9e92bfc7a9bd4f" providerId="LiveId" clId="{44A44528-DB36-4F8C-9869-CF35F0FB3EAC}" dt="2026-09-08T09:02:21.835" v="15" actId="1076"/>
          <ac:picMkLst>
            <pc:docMk/>
            <pc:sldMk cId="0" sldId="261"/>
            <ac:picMk id="6" creationId="{00000000-0000-0000-0000-000000000000}"/>
          </ac:picMkLst>
        </pc:picChg>
      </pc:sldChg>
      <pc:sldChg chg="delSp modSp mod">
        <pc:chgData name="Jess W" userId="0a9e92bfc7a9bd4f" providerId="LiveId" clId="{44A44528-DB36-4F8C-9869-CF35F0FB3EAC}" dt="2026-09-08T10:16:55.126" v="230" actId="207"/>
        <pc:sldMkLst>
          <pc:docMk/>
          <pc:sldMk cId="0" sldId="262"/>
        </pc:sldMkLst>
        <pc:spChg chg="mod">
          <ac:chgData name="Jess W" userId="0a9e92bfc7a9bd4f" providerId="LiveId" clId="{44A44528-DB36-4F8C-9869-CF35F0FB3EAC}" dt="2026-09-08T09:02:13.137" v="14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Jess W" userId="0a9e92bfc7a9bd4f" providerId="LiveId" clId="{44A44528-DB36-4F8C-9869-CF35F0FB3EAC}" dt="2026-09-08T10:16:55.126" v="230" actId="207"/>
          <ac:spMkLst>
            <pc:docMk/>
            <pc:sldMk cId="0" sldId="262"/>
            <ac:spMk id="7" creationId="{00000000-0000-0000-0000-000000000000}"/>
          </ac:spMkLst>
        </pc:spChg>
        <pc:spChg chg="del">
          <ac:chgData name="Jess W" userId="0a9e92bfc7a9bd4f" providerId="LiveId" clId="{44A44528-DB36-4F8C-9869-CF35F0FB3EAC}" dt="2026-09-08T09:01:46.702" v="10" actId="478"/>
          <ac:spMkLst>
            <pc:docMk/>
            <pc:sldMk cId="0" sldId="262"/>
            <ac:spMk id="8" creationId="{00000000-0000-0000-0000-000000000000}"/>
          </ac:spMkLst>
        </pc:spChg>
      </pc:sldChg>
      <pc:sldChg chg="delSp modSp mod">
        <pc:chgData name="Jess W" userId="0a9e92bfc7a9bd4f" providerId="LiveId" clId="{44A44528-DB36-4F8C-9869-CF35F0FB3EAC}" dt="2026-09-08T19:34:57.213" v="604" actId="6549"/>
        <pc:sldMkLst>
          <pc:docMk/>
          <pc:sldMk cId="0" sldId="263"/>
        </pc:sldMkLst>
        <pc:spChg chg="mod">
          <ac:chgData name="Jess W" userId="0a9e92bfc7a9bd4f" providerId="LiveId" clId="{44A44528-DB36-4F8C-9869-CF35F0FB3EAC}" dt="2026-09-08T09:02:00.213" v="12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Jess W" userId="0a9e92bfc7a9bd4f" providerId="LiveId" clId="{44A44528-DB36-4F8C-9869-CF35F0FB3EAC}" dt="2026-09-08T09:02:03.933" v="13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Jess W" userId="0a9e92bfc7a9bd4f" providerId="LiveId" clId="{44A44528-DB36-4F8C-9869-CF35F0FB3EAC}" dt="2026-09-08T19:34:57.213" v="604" actId="6549"/>
          <ac:spMkLst>
            <pc:docMk/>
            <pc:sldMk cId="0" sldId="263"/>
            <ac:spMk id="12" creationId="{00000000-0000-0000-0000-000000000000}"/>
          </ac:spMkLst>
        </pc:spChg>
        <pc:spChg chg="del">
          <ac:chgData name="Jess W" userId="0a9e92bfc7a9bd4f" providerId="LiveId" clId="{44A44528-DB36-4F8C-9869-CF35F0FB3EAC}" dt="2026-09-08T09:01:51.859" v="11" actId="478"/>
          <ac:spMkLst>
            <pc:docMk/>
            <pc:sldMk cId="0" sldId="263"/>
            <ac:spMk id="43" creationId="{00000000-0000-0000-0000-000000000000}"/>
          </ac:spMkLst>
        </pc:spChg>
      </pc:sldChg>
      <pc:sldChg chg="modSp mod">
        <pc:chgData name="Jess W" userId="0a9e92bfc7a9bd4f" providerId="LiveId" clId="{44A44528-DB36-4F8C-9869-CF35F0FB3EAC}" dt="2026-09-09T08:23:00.375" v="687" actId="20577"/>
        <pc:sldMkLst>
          <pc:docMk/>
          <pc:sldMk cId="0" sldId="264"/>
        </pc:sldMkLst>
        <pc:spChg chg="mod">
          <ac:chgData name="Jess W" userId="0a9e92bfc7a9bd4f" providerId="LiveId" clId="{44A44528-DB36-4F8C-9869-CF35F0FB3EAC}" dt="2026-09-09T08:22:07.307" v="683" actId="20577"/>
          <ac:spMkLst>
            <pc:docMk/>
            <pc:sldMk cId="0" sldId="264"/>
            <ac:spMk id="5" creationId="{00000000-0000-0000-0000-000000000000}"/>
          </ac:spMkLst>
        </pc:spChg>
        <pc:spChg chg="mod">
          <ac:chgData name="Jess W" userId="0a9e92bfc7a9bd4f" providerId="LiveId" clId="{44A44528-DB36-4F8C-9869-CF35F0FB3EAC}" dt="2026-09-09T08:23:00.375" v="687" actId="20577"/>
          <ac:spMkLst>
            <pc:docMk/>
            <pc:sldMk cId="0" sldId="264"/>
            <ac:spMk id="6" creationId="{00000000-0000-0000-0000-000000000000}"/>
          </ac:spMkLst>
        </pc:spChg>
        <pc:spChg chg="mod">
          <ac:chgData name="Jess W" userId="0a9e92bfc7a9bd4f" providerId="LiveId" clId="{44A44528-DB36-4F8C-9869-CF35F0FB3EAC}" dt="2026-09-08T19:49:29.251" v="647" actId="1076"/>
          <ac:spMkLst>
            <pc:docMk/>
            <pc:sldMk cId="0" sldId="264"/>
            <ac:spMk id="7" creationId="{00000000-0000-0000-0000-000000000000}"/>
          </ac:spMkLst>
        </pc:spChg>
      </pc:sldChg>
      <pc:sldChg chg="new del">
        <pc:chgData name="Jess W" userId="0a9e92bfc7a9bd4f" providerId="LiveId" clId="{44A44528-DB36-4F8C-9869-CF35F0FB3EAC}" dt="2026-09-08T17:54:57.417" v="588" actId="680"/>
        <pc:sldMkLst>
          <pc:docMk/>
          <pc:sldMk cId="3137206392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54864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468451" y="1380744"/>
            <a:ext cx="357169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ElimuMatch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7F1E8"/>
                </a:solidFill>
                <a:latin typeface="Calibri"/>
              </a:defRPr>
            </a:pPr>
            <a:r>
              <a:t>Matching Support to Retention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FE9"/>
                </a:solidFill>
                <a:latin typeface="Calibri"/>
              </a:defRPr>
            </a:pPr>
            <a:r>
              <a:rPr dirty="0"/>
              <a:t>A data-driven platform for fee support to secondary </a:t>
            </a:r>
            <a:r>
              <a:rPr lang="en-GB" dirty="0"/>
              <a:t>school </a:t>
            </a:r>
            <a:r>
              <a:rPr dirty="0"/>
              <a:t>students</a:t>
            </a:r>
            <a:r>
              <a:rPr lang="en-GB" dirty="0"/>
              <a:t> in Kenya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FE9"/>
                </a:solidFill>
                <a:latin typeface="Calibri"/>
              </a:defRPr>
            </a:pPr>
            <a:r>
              <a:rPr dirty="0"/>
              <a:t>Prepared for Impact Investors, CSR Partners, and Education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32511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FE9"/>
                </a:solidFill>
                <a:latin typeface="Calibri"/>
              </a:defRPr>
            </a:pPr>
            <a:r>
              <a:rPr lang="en-GB" dirty="0" err="1"/>
              <a:t>ElimuMatch</a:t>
            </a:r>
            <a:r>
              <a:rPr lang="en-GB" dirty="0"/>
              <a:t> Analytics </a:t>
            </a:r>
            <a:r>
              <a:rPr dirty="0"/>
              <a:t>|  </a:t>
            </a:r>
            <a:r>
              <a:rPr lang="en-GB"/>
              <a:t>September</a:t>
            </a:r>
            <a:r>
              <a:t> </a:t>
            </a:r>
            <a:r>
              <a:rPr dirty="0"/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91144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4B942"/>
                </a:solidFill>
                <a:latin typeface="Calibri"/>
              </a:defRPr>
            </a:pPr>
            <a:r>
              <a:rPr dirty="0"/>
              <a:t>jesyldah.github.io/</a:t>
            </a:r>
            <a:r>
              <a:rPr dirty="0" err="1"/>
              <a:t>ElimuMatch</a:t>
            </a:r>
            <a:endParaRPr dirty="0"/>
          </a:p>
        </p:txBody>
      </p:sp>
      <p:pic>
        <p:nvPicPr>
          <p:cNvPr id="11" name="Picture 10" descr="elimumatch_logo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171" y="1572768"/>
            <a:ext cx="484280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36576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7A5A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4029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13D"/>
                </a:solidFill>
                <a:latin typeface="Calibri"/>
              </a:defRPr>
            </a:pPr>
            <a:r>
              <a:rPr dirty="0"/>
              <a:t>Kenya expanded access, but nearly half of students still do not finish secondary school</a:t>
            </a:r>
          </a:p>
        </p:txBody>
      </p:sp>
      <p:pic>
        <p:nvPicPr>
          <p:cNvPr id="6" name="Picture 5" descr="ext_02_kenya_completion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5029200" cy="2664381"/>
          </a:xfrm>
          <a:prstGeom prst="rect">
            <a:avLst/>
          </a:prstGeom>
        </p:spPr>
      </p:pic>
      <p:pic>
        <p:nvPicPr>
          <p:cNvPr id="7" name="Picture 6" descr="ext_03_kenya_access_pro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029200" cy="25815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4213D"/>
                </a:solidFill>
                <a:latin typeface="Calibri"/>
              </a:defRPr>
            </a:pPr>
            <a:r>
              <a:rPr dirty="0"/>
              <a:t>4.32 million students were enrolled by 2024, all vulnerable to fee pressure and income shocks.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14213D"/>
                </a:solidFill>
                <a:latin typeface="Calibri"/>
              </a:defRPr>
            </a:pPr>
            <a:r>
              <a:rPr dirty="0"/>
              <a:t>People want to help, but support follows personal connections instead of reaching those who need it most.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4213D"/>
                </a:solidFill>
                <a:latin typeface="Calibri"/>
              </a:defRPr>
            </a:pPr>
            <a:r>
              <a:t>Sources: UNESCO IICBA (2025) completion estimates; KNBS Economic Survey 2025, secondary enrolment 2020-2024.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36576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7A5A"/>
                </a:solidFill>
                <a:latin typeface="Calibri"/>
              </a:defRPr>
            </a:pPr>
            <a:r>
              <a:t>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13D"/>
                </a:solidFill>
                <a:latin typeface="Calibri"/>
              </a:defRPr>
            </a:pPr>
            <a:r>
              <a:rPr dirty="0"/>
              <a:t>NGO help often focuses on ASAL, while students elsewhere also face fee pressure and dropout risk</a:t>
            </a:r>
          </a:p>
        </p:txBody>
      </p:sp>
      <p:pic>
        <p:nvPicPr>
          <p:cNvPr id="6" name="Picture 5" descr="09_perceptual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5303520" cy="39845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8402" y="1554511"/>
            <a:ext cx="5303518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600" b="1">
                <a:solidFill>
                  <a:srgbClr val="14213D"/>
                </a:solidFill>
                <a:latin typeface="Calibri"/>
              </a:defRPr>
            </a:pPr>
            <a:r>
              <a:rPr dirty="0"/>
              <a:t>How support is directed today</a:t>
            </a:r>
          </a:p>
          <a:p>
            <a:pPr algn="just">
              <a:spcBef>
                <a:spcPts val="600"/>
              </a:spcBef>
              <a:defRPr sz="1400" b="0">
                <a:solidFill>
                  <a:srgbClr val="14213D"/>
                </a:solidFill>
                <a:latin typeface="Calibri"/>
              </a:defRPr>
            </a:pPr>
            <a:r>
              <a:rPr lang="en-GB" b="1" dirty="0"/>
              <a:t>Geographic concentration: </a:t>
            </a:r>
            <a:r>
              <a:rPr lang="en-GB" dirty="0"/>
              <a:t>Many NGO programs focus on arid and semi-arid lands (ASAL), while students elsewhere also face fee pressure.</a:t>
            </a:r>
          </a:p>
          <a:p>
            <a:pPr algn="just">
              <a:spcBef>
                <a:spcPts val="600"/>
              </a:spcBef>
              <a:defRPr sz="1400" b="0">
                <a:solidFill>
                  <a:srgbClr val="14213D"/>
                </a:solidFill>
                <a:latin typeface="Calibri"/>
              </a:defRPr>
            </a:pPr>
            <a:r>
              <a:rPr lang="en-GB" b="1" dirty="0"/>
              <a:t>Network reliance: </a:t>
            </a:r>
            <a:r>
              <a:rPr lang="en-GB" dirty="0"/>
              <a:t>Individual helpers often rely on personal contacts, so students without connections are overlooked.</a:t>
            </a:r>
          </a:p>
          <a:p>
            <a:pPr algn="just">
              <a:spcBef>
                <a:spcPts val="600"/>
              </a:spcBef>
              <a:defRPr sz="1400" b="0">
                <a:solidFill>
                  <a:srgbClr val="14213D"/>
                </a:solidFill>
                <a:latin typeface="Calibri"/>
              </a:defRPr>
            </a:pPr>
            <a:r>
              <a:rPr lang="en-GB" b="1" dirty="0"/>
              <a:t>Bursary friction: </a:t>
            </a:r>
            <a:r>
              <a:rPr lang="en-GB" dirty="0"/>
              <a:t>Annual contests bring heavy paperwork and long gaps the rest of the year.</a:t>
            </a:r>
          </a:p>
          <a:p>
            <a:pPr algn="just">
              <a:spcBef>
                <a:spcPts val="600"/>
              </a:spcBef>
              <a:defRPr sz="1400" b="0">
                <a:solidFill>
                  <a:srgbClr val="14213D"/>
                </a:solidFill>
                <a:latin typeface="Calibri"/>
              </a:defRPr>
            </a:pPr>
            <a:r>
              <a:rPr lang="en-GB" b="1" dirty="0"/>
              <a:t>Unranked dropout risk: </a:t>
            </a:r>
            <a:r>
              <a:rPr lang="en-GB" dirty="0"/>
              <a:t>Crowdfunding and school lists rarely prioritize who is most at risk of leaving.</a:t>
            </a:r>
          </a:p>
          <a:p>
            <a:pPr algn="just">
              <a:spcBef>
                <a:spcPts val="600"/>
              </a:spcBef>
              <a:defRPr sz="1000" b="0">
                <a:solidFill>
                  <a:srgbClr val="14213D"/>
                </a:solidFill>
                <a:latin typeface="Calibri"/>
              </a:defRPr>
            </a:pPr>
            <a:endParaRPr dirty="0"/>
          </a:p>
          <a:p>
            <a:pPr algn="just">
              <a:spcBef>
                <a:spcPts val="600"/>
              </a:spcBef>
              <a:defRPr sz="1400" b="0">
                <a:solidFill>
                  <a:srgbClr val="14213D"/>
                </a:solidFill>
                <a:latin typeface="Calibri"/>
              </a:defRPr>
            </a:pPr>
            <a:r>
              <a:rPr lang="en-GB" sz="1600" b="1" dirty="0" err="1">
                <a:solidFill>
                  <a:srgbClr val="1B7A5A"/>
                </a:solidFill>
                <a:latin typeface="Calibri"/>
              </a:rPr>
              <a:t>ElimuMatch</a:t>
            </a:r>
            <a:r>
              <a:rPr lang="en-GB" sz="1600" b="1" dirty="0">
                <a:solidFill>
                  <a:srgbClr val="1B7A5A"/>
                </a:solidFill>
                <a:latin typeface="Calibri"/>
              </a:rPr>
              <a:t> closes these gaps</a:t>
            </a:r>
          </a:p>
          <a:p>
            <a:pPr algn="just">
              <a:spcBef>
                <a:spcPts val="600"/>
              </a:spcBef>
              <a:defRPr sz="1400" b="0">
                <a:solidFill>
                  <a:srgbClr val="14213D"/>
                </a:solidFill>
                <a:latin typeface="Calibri"/>
              </a:defRPr>
            </a:pPr>
            <a:r>
              <a:rPr lang="en-GB" sz="1400" dirty="0">
                <a:solidFill>
                  <a:srgbClr val="1B7A5A"/>
                </a:solidFill>
                <a:latin typeface="Calibri"/>
              </a:rPr>
              <a:t>Helpers can give in any of Kenya’s 47 counties, to students prioritized by measured dropout risk, through a simple path that settles straight to the school.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36576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61475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7A5A"/>
                </a:solidFill>
                <a:latin typeface="Calibri"/>
              </a:defRPr>
            </a:pPr>
            <a:r>
              <a:rPr dirty="0"/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7235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13D"/>
                </a:solidFill>
                <a:latin typeface="Calibri"/>
              </a:defRPr>
            </a:pPr>
            <a:r>
              <a:rPr dirty="0" err="1"/>
              <a:t>ElimuMatch</a:t>
            </a:r>
            <a:r>
              <a:rPr dirty="0"/>
              <a:t> identifies at-risk students and lets helpers support them in four simple steps</a:t>
            </a:r>
          </a:p>
        </p:txBody>
      </p:sp>
      <p:pic>
        <p:nvPicPr>
          <p:cNvPr id="6" name="Picture 5" descr="01_product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486400" cy="39823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05600" y="1846519"/>
            <a:ext cx="5029200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7A5A"/>
                </a:solidFill>
                <a:latin typeface="Calibri"/>
              </a:defRPr>
            </a:pPr>
            <a:r>
              <a:rPr dirty="0"/>
              <a:t>What helpers experience</a:t>
            </a:r>
          </a:p>
          <a:p>
            <a:pPr algn="l">
              <a:spcBef>
                <a:spcPts val="1400"/>
              </a:spcBef>
              <a:defRPr sz="1500" b="0">
                <a:solidFill>
                  <a:srgbClr val="14213D"/>
                </a:solidFill>
                <a:latin typeface="Calibri"/>
              </a:defRPr>
            </a:pPr>
            <a:r>
              <a:rPr dirty="0"/>
              <a:t>They pick a county, choose a school, see a student's fee balance, give, and get a receipt.</a:t>
            </a:r>
          </a:p>
          <a:p>
            <a:pPr algn="l">
              <a:spcBef>
                <a:spcPts val="2200"/>
              </a:spcBef>
              <a:defRPr sz="1600" b="1">
                <a:solidFill>
                  <a:srgbClr val="1B7A5A"/>
                </a:solidFill>
                <a:latin typeface="Calibri"/>
              </a:defRPr>
            </a:pPr>
            <a:r>
              <a:rPr dirty="0"/>
              <a:t>What happens behind the scenes</a:t>
            </a:r>
          </a:p>
          <a:p>
            <a:pPr algn="just">
              <a:spcBef>
                <a:spcPts val="1400"/>
              </a:spcBef>
              <a:defRPr sz="1500" b="0">
                <a:solidFill>
                  <a:srgbClr val="14213D"/>
                </a:solidFill>
                <a:latin typeface="Calibri"/>
              </a:defRPr>
            </a:pPr>
            <a:r>
              <a:rPr dirty="0"/>
              <a:t>Our system scores each student's risk of dropping out. Only students who need fee help appear. </a:t>
            </a:r>
            <a:endParaRPr lang="en-GB" dirty="0"/>
          </a:p>
          <a:p>
            <a:pPr algn="just">
              <a:spcBef>
                <a:spcPts val="1400"/>
              </a:spcBef>
              <a:defRPr sz="1500" b="0">
                <a:solidFill>
                  <a:srgbClr val="14213D"/>
                </a:solidFill>
                <a:latin typeface="Calibri"/>
              </a:defRPr>
            </a:pPr>
            <a:r>
              <a:rPr dirty="0"/>
              <a:t>School staff can see the reasons behind each score.</a:t>
            </a:r>
          </a:p>
          <a:p>
            <a:pPr algn="l">
              <a:spcBef>
                <a:spcPts val="2200"/>
              </a:spcBef>
              <a:defRPr sz="1500" b="1">
                <a:solidFill>
                  <a:srgbClr val="14213D"/>
                </a:solidFill>
                <a:latin typeface="Calibri"/>
              </a:defRPr>
            </a:pPr>
            <a:r>
              <a:rPr dirty="0"/>
              <a:t>Every shilling goes directly to the school's fee account. </a:t>
            </a:r>
            <a:r>
              <a:rPr dirty="0" err="1"/>
              <a:t>ElimuMatch</a:t>
            </a:r>
            <a:r>
              <a:rPr dirty="0"/>
              <a:t> does not take a cut.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36576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7A5A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13D"/>
                </a:solidFill>
                <a:latin typeface="Calibri"/>
              </a:defRPr>
            </a:pPr>
            <a:r>
              <a:rPr dirty="0"/>
              <a:t>A helper chooses where to give, pays school fees, and gets a receipt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4213D"/>
                </a:solidFill>
                <a:latin typeface="Calibri"/>
              </a:defRPr>
            </a:pPr>
            <a:r>
              <a:t>Every gift goes directly to the school's fee account. Oldest unpaid terms are cleared first.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14213D"/>
                </a:solidFill>
                <a:latin typeface="Calibri"/>
              </a:defRPr>
            </a:pPr>
            <a:r>
              <a:t>Overpayments are blocked automatically, and every transaction is tracked and auditable.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4213D"/>
                </a:solidFill>
                <a:latin typeface="Calibri"/>
              </a:defRPr>
            </a:pPr>
            <a:r>
              <a:t>Live demo: jesyldah.github.io/ElimuMatch</a:t>
            </a:r>
          </a:p>
        </p:txBody>
      </p:sp>
      <p:pic>
        <p:nvPicPr>
          <p:cNvPr id="9" name="Picture 8" descr="10_gift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7795627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36576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7A5A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6204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13D"/>
                </a:solidFill>
                <a:latin typeface="Calibri"/>
              </a:defRPr>
            </a:pPr>
            <a:r>
              <a:rPr dirty="0"/>
              <a:t>Our system identifies about two out of three students who would drop out, twice the nearest alternative</a:t>
            </a:r>
          </a:p>
        </p:txBody>
      </p:sp>
      <p:pic>
        <p:nvPicPr>
          <p:cNvPr id="6" name="Picture 5" descr="08_selection_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54436"/>
            <a:ext cx="6766560" cy="42928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0" y="1454436"/>
            <a:ext cx="4114800" cy="2764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4213D"/>
                </a:solidFill>
                <a:latin typeface="Calibri"/>
              </a:defRPr>
            </a:pPr>
            <a:r>
              <a:rPr dirty="0"/>
              <a:t>We tested four different approaches.</a:t>
            </a:r>
          </a:p>
          <a:p>
            <a:pPr algn="l">
              <a:spcBef>
                <a:spcPts val="1600"/>
              </a:spcBef>
              <a:defRPr sz="1500" b="0">
                <a:solidFill>
                  <a:srgbClr val="14213D"/>
                </a:solidFill>
                <a:latin typeface="Calibri"/>
              </a:defRPr>
            </a:pPr>
            <a:r>
              <a:rPr dirty="0"/>
              <a:t>Logistic Regression is the one we selected: it catches about 67% of students who later drop out. Gradient Boosting catches only about 33%.</a:t>
            </a:r>
          </a:p>
          <a:p>
            <a:pPr algn="l">
              <a:spcBef>
                <a:spcPts val="1800"/>
              </a:spcBef>
              <a:defRPr sz="1500" b="1">
                <a:solidFill>
                  <a:srgbClr val="14213D"/>
                </a:solidFill>
                <a:latin typeface="Calibri"/>
              </a:defRPr>
            </a:pPr>
            <a:r>
              <a:rPr dirty="0"/>
              <a:t>The strongest warning signs are health problems, family economic pressure, and falling grades.</a:t>
            </a:r>
          </a:p>
          <a:p>
            <a:pPr algn="just">
              <a:spcBef>
                <a:spcPts val="1600"/>
              </a:spcBef>
              <a:defRPr sz="1400" b="0">
                <a:solidFill>
                  <a:srgbClr val="14213D"/>
                </a:solidFill>
                <a:latin typeface="Calibri"/>
              </a:defRPr>
            </a:pPr>
            <a:r>
              <a:rPr dirty="0"/>
              <a:t>School staff see why each student is flagged, so they can take informed action. Helpers see only a simple, clear profile.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36576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7A5A"/>
                </a:solidFill>
                <a:latin typeface="Calibri"/>
              </a:defRPr>
            </a:pPr>
            <a: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13D"/>
                </a:solidFill>
                <a:latin typeface="Calibri"/>
              </a:defRPr>
            </a:pPr>
            <a:r>
              <a:rPr dirty="0"/>
              <a:t>An 8-school pilot returns about KES 2.6 for every KES 1 of platform cost</a:t>
            </a:r>
          </a:p>
        </p:txBody>
      </p:sp>
      <p:pic>
        <p:nvPicPr>
          <p:cNvPr id="6" name="Picture 5" descr="06_year1_econo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486400" cy="33896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463040"/>
            <a:ext cx="5303520" cy="361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13D"/>
                </a:solidFill>
                <a:latin typeface="Calibri"/>
              </a:defRPr>
            </a:pPr>
            <a:r>
              <a:rPr dirty="0"/>
              <a:t>Year-1 pilot: 8 schools, about 1,000 students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14213D"/>
                </a:solidFill>
                <a:latin typeface="Calibri"/>
              </a:defRPr>
            </a:pPr>
            <a:endParaRPr dirty="0"/>
          </a:p>
          <a:p>
            <a:pPr algn="l">
              <a:spcBef>
                <a:spcPts val="600"/>
              </a:spcBef>
              <a:defRPr sz="1500" b="0">
                <a:solidFill>
                  <a:srgbClr val="14213D"/>
                </a:solidFill>
                <a:latin typeface="Calibri"/>
              </a:defRPr>
            </a:pPr>
            <a:r>
              <a:rPr dirty="0"/>
              <a:t>It costs about KES 2.0M to set up and run the platform for one year.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14213D"/>
                </a:solidFill>
                <a:latin typeface="Calibri"/>
              </a:defRPr>
            </a:pPr>
            <a:r>
              <a:rPr dirty="0"/>
              <a:t>Helper gifts of about KES 4.0M pass through to schools separately.</a:t>
            </a:r>
          </a:p>
          <a:p>
            <a:pPr algn="l">
              <a:spcBef>
                <a:spcPts val="600"/>
              </a:spcBef>
              <a:defRPr sz="1500" b="1">
                <a:solidFill>
                  <a:srgbClr val="1B7A5A"/>
                </a:solidFill>
                <a:latin typeface="Calibri"/>
              </a:defRPr>
            </a:pPr>
            <a:r>
              <a:rPr dirty="0"/>
              <a:t>The estimated benefits total about KES 5.2M from better targeting, fewer dropouts, and staff time saved.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14213D"/>
                </a:solidFill>
                <a:latin typeface="Calibri"/>
              </a:defRPr>
            </a:pPr>
            <a:endParaRPr dirty="0"/>
          </a:p>
          <a:p>
            <a:pPr algn="just">
              <a:spcBef>
                <a:spcPts val="600"/>
              </a:spcBef>
              <a:defRPr sz="1400" b="0">
                <a:solidFill>
                  <a:srgbClr val="5C6B73"/>
                </a:solidFill>
                <a:latin typeface="Calibri"/>
              </a:defRPr>
            </a:pPr>
            <a:r>
              <a:rPr dirty="0"/>
              <a:t>Conservative estimate: roughly break-even.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1B7A5A"/>
                </a:solidFill>
                <a:latin typeface="Calibri"/>
              </a:defRPr>
            </a:pPr>
            <a:r>
              <a:rPr dirty="0"/>
              <a:t>Base case: 2.6x return.  Best case: 5.4x.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14213D"/>
                </a:solidFill>
                <a:latin typeface="Calibri"/>
              </a:defRPr>
            </a:pPr>
            <a:endParaRPr dirty="0"/>
          </a:p>
          <a:p>
            <a:pPr algn="l">
              <a:spcBef>
                <a:spcPts val="600"/>
              </a:spcBef>
              <a:defRPr sz="1400" b="0">
                <a:solidFill>
                  <a:srgbClr val="14213D"/>
                </a:solidFill>
                <a:latin typeface="Calibri"/>
              </a:defRPr>
            </a:pPr>
            <a:r>
              <a:rPr dirty="0"/>
              <a:t>We measure success by whether priority students actually receive gifts, whether payments land without errors, and whether helped students stay in school.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36576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6299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7A5A"/>
                </a:solidFill>
                <a:latin typeface="Calibri"/>
              </a:defRPr>
            </a:pPr>
            <a:r>
              <a:rPr dirty="0"/>
              <a:t>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79704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213D"/>
                </a:solidFill>
                <a:latin typeface="Calibri"/>
              </a:defRPr>
            </a:pPr>
            <a:r>
              <a:rPr dirty="0"/>
              <a:t>Our pilot runs through six stages and proceeds only if hard results clear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45920"/>
            <a:ext cx="1783080" cy="315468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 Legal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1600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Sign agreements with</a:t>
            </a:r>
            <a:br/>
            <a:r>
              <a:t>8 partner schools.</a:t>
            </a:r>
            <a:br/>
            <a:r>
              <a:t>Data protection and</a:t>
            </a:r>
            <a:br/>
            <a:r>
              <a:t>child safeguarding.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3434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Months 0-4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22576" y="1645920"/>
            <a:ext cx="1783080" cy="3154680"/>
          </a:xfrm>
          <a:prstGeom prst="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14016" y="1755648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2. Partner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4016" y="2240280"/>
            <a:ext cx="1600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Collect school records</a:t>
            </a:r>
            <a:br>
              <a:rPr dirty="0"/>
            </a:br>
            <a:r>
              <a:rPr dirty="0"/>
              <a:t>under the signed</a:t>
            </a:r>
            <a:br>
              <a:rPr dirty="0"/>
            </a:br>
            <a:r>
              <a:rPr dirty="0"/>
              <a:t>agreements. Check quality,</a:t>
            </a:r>
            <a:r>
              <a:rPr lang="en-GB" dirty="0"/>
              <a:t> </a:t>
            </a:r>
            <a:r>
              <a:rPr dirty="0"/>
              <a:t>validate on real extracts,</a:t>
            </a:r>
            <a:r>
              <a:rPr lang="en-GB" dirty="0"/>
              <a:t> </a:t>
            </a:r>
            <a:r>
              <a:rPr dirty="0"/>
              <a:t>and set a termly refresh.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4016" y="43434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Months 1-4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3672" y="1645920"/>
            <a:ext cx="1783080" cy="3154680"/>
          </a:xfrm>
          <a:prstGeom prst="rect">
            <a:avLst/>
          </a:prstGeom>
          <a:solidFill>
            <a:srgbClr val="0F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5112" y="1755648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3. Soft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2240280"/>
            <a:ext cx="1600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Rank students on real</a:t>
            </a:r>
            <a:br/>
            <a:r>
              <a:t>data. Review every list</a:t>
            </a:r>
            <a:br/>
            <a:r>
              <a:t>before anything is</a:t>
            </a:r>
            <a:br/>
            <a:r>
              <a:t>made public.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43434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Term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645920"/>
            <a:ext cx="1783080" cy="3154680"/>
          </a:xfrm>
          <a:prstGeom prst="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36208" y="1755648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4. Live Giving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240280"/>
            <a:ext cx="1600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Helpers give through</a:t>
            </a:r>
            <a:br/>
            <a:r>
              <a:t>the platform. Money</a:t>
            </a:r>
            <a:br/>
            <a:r>
              <a:t>goes to school fee</a:t>
            </a:r>
            <a:br/>
            <a:r>
              <a:t>accounts.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43434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Terms 1-2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55863" y="1645920"/>
            <a:ext cx="1783080" cy="315468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47303" y="1755648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213D"/>
                </a:solidFill>
                <a:latin typeface="Calibri"/>
              </a:defRPr>
            </a:pPr>
            <a:r>
              <a:t>5. Measure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3" y="2240280"/>
            <a:ext cx="1600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4213D"/>
                </a:solidFill>
                <a:latin typeface="Calibri"/>
              </a:defRPr>
            </a:pPr>
            <a:r>
              <a:t>Track whether helped</a:t>
            </a:r>
            <a:br/>
            <a:r>
              <a:t>students stay enrolled.</a:t>
            </a:r>
            <a:br/>
            <a:r>
              <a:t>Check payments and</a:t>
            </a:r>
            <a:br/>
            <a:r>
              <a:t>fairness each term.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7303" y="43434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213D"/>
                </a:solidFill>
                <a:latin typeface="Calibri"/>
              </a:defRPr>
            </a:pPr>
            <a:r>
              <a:t>Each term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66959" y="1645920"/>
            <a:ext cx="1783080" cy="315468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399" y="1755648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6. Scale 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399" y="2240280"/>
            <a:ext cx="1600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Add schools or new</a:t>
            </a:r>
            <a:br/>
            <a:r>
              <a:t>support types only if</a:t>
            </a:r>
            <a:br/>
            <a:r>
              <a:t>pilot results justify 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399" y="43434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End of Year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76272" y="31089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B7A5A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87368" y="31089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B7A5A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98464" y="31089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B7A5A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31089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B7A5A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0655" y="31089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B7A5A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983480"/>
            <a:ext cx="10972800" cy="38404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50292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Scale is unlocked only if these three results hold: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468112"/>
            <a:ext cx="3474720" cy="566928"/>
          </a:xfrm>
          <a:prstGeom prst="rect">
            <a:avLst/>
          </a:prstGeom>
          <a:solidFill>
            <a:srgbClr val="E8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19" y="5541264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13D"/>
                </a:solidFill>
                <a:latin typeface="Calibri"/>
              </a:defRPr>
            </a:pPr>
            <a:r>
              <a:t>The model identifies at least 40% of students who later drop out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5468112"/>
            <a:ext cx="3474720" cy="566928"/>
          </a:xfrm>
          <a:prstGeom prst="rect">
            <a:avLst/>
          </a:prstGeom>
          <a:solidFill>
            <a:srgbClr val="E8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34840" y="5541264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13D"/>
                </a:solidFill>
                <a:latin typeface="Calibri"/>
              </a:defRPr>
            </a:pPr>
            <a:r>
              <a:t>Payment error rates stay below 10%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20" y="5468112"/>
            <a:ext cx="3474720" cy="566928"/>
          </a:xfrm>
          <a:prstGeom prst="rect">
            <a:avLst/>
          </a:prstGeom>
          <a:solidFill>
            <a:srgbClr val="E8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38160" y="5541264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13D"/>
                </a:solidFill>
                <a:latin typeface="Calibri"/>
              </a:defRPr>
            </a:pPr>
            <a:r>
              <a:t>Helped students stay in school longer within two terms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54864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7F1E8"/>
                </a:solidFill>
                <a:latin typeface="Calibri"/>
              </a:defRPr>
            </a:pPr>
            <a:r>
              <a:rPr lang="en-GB" dirty="0" err="1"/>
              <a:t>Ksh</a:t>
            </a:r>
            <a:r>
              <a:rPr lang="en-GB" dirty="0"/>
              <a:t>. 2 million to f</a:t>
            </a:r>
            <a:r>
              <a:rPr dirty="0"/>
              <a:t>und an 8-school Year-1 pilot to prove</a:t>
            </a:r>
            <a:br>
              <a:rPr dirty="0"/>
            </a:br>
            <a:r>
              <a:rPr dirty="0"/>
              <a:t>fee-support matching on real school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8247" y="2828109"/>
            <a:ext cx="7315200" cy="2328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What the funding will unlock:</a:t>
            </a:r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endParaRPr lang="en-GB" dirty="0"/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✓  </a:t>
            </a:r>
            <a:r>
              <a:rPr lang="en-GB" dirty="0"/>
              <a:t>P</a:t>
            </a:r>
            <a:r>
              <a:rPr dirty="0" err="1"/>
              <a:t>latform</a:t>
            </a:r>
            <a:r>
              <a:rPr dirty="0"/>
              <a:t> setup and operations (helper gifts go to schools </a:t>
            </a:r>
            <a:r>
              <a:rPr lang="en-GB" dirty="0"/>
              <a:t>directly</a:t>
            </a:r>
            <a:r>
              <a:rPr dirty="0"/>
              <a:t>).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✓  A part-time analyst and school liaison to run the pilot.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✓  Access to partner school records under signed agreements.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✓  Live fee giving with human review of every student list before it is published.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✓  A decision to expand </a:t>
            </a:r>
            <a:r>
              <a:rPr lang="en-GB" dirty="0"/>
              <a:t>(</a:t>
            </a:r>
            <a:r>
              <a:rPr dirty="0"/>
              <a:t>only after pilot results justify it</a:t>
            </a:r>
            <a:r>
              <a:rPr lang="en-GB" dirty="0"/>
              <a:t>)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7F1E8"/>
                </a:solidFill>
                <a:latin typeface="Calibri"/>
              </a:defRPr>
            </a:pPr>
            <a:r>
              <a:rPr dirty="0"/>
              <a:t>We can direct fee support to the students most likely to leave school,</a:t>
            </a:r>
            <a:br>
              <a:rPr dirty="0"/>
            </a:br>
            <a:r>
              <a:rPr dirty="0"/>
              <a:t>replacing guesswork with transparent, auditable matching.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36576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7A5A"/>
                </a:solidFill>
                <a:latin typeface="Calibri"/>
              </a:defRPr>
            </a:pPr>
            <a: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213D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4213D"/>
                </a:solidFill>
                <a:latin typeface="Calibri"/>
              </a:defRPr>
            </a:pPr>
            <a:r>
              <a:t>Adhola, F., Ochola, J., &amp; Tikoko, B. (2025). Donor funding and school operations, Nakuru County.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14213D"/>
                </a:solidFill>
                <a:latin typeface="Calibri"/>
              </a:defRPr>
            </a:pPr>
            <a:r>
              <a:t>Adelman, C. (2006). The Toolbox Revisited. U.S. Dept. of Education.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14213D"/>
                </a:solidFill>
                <a:latin typeface="Calibri"/>
              </a:defRPr>
            </a:pPr>
            <a:r>
              <a:t>Basch, C. E. (2011). Healthier students are better learners. J. School Health, 81(10).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14213D"/>
                </a:solidFill>
                <a:latin typeface="Calibri"/>
              </a:defRPr>
            </a:pPr>
            <a:r>
              <a:t>Childress, M. (2015). Dynamics of education in Kenya. The School Fund.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14213D"/>
                </a:solidFill>
                <a:latin typeface="Calibri"/>
              </a:defRPr>
            </a:pPr>
            <a:r>
              <a:t>Cortez, P. &amp; Silva, A. (2008). Using data mining to predict student performance.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14213D"/>
                </a:solidFill>
                <a:latin typeface="Calibri"/>
              </a:defRPr>
            </a:pPr>
            <a:r>
              <a:t>Cursor. (2026). Auto (Composer) drafting assistance. cursor.com.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14213D"/>
                </a:solidFill>
                <a:latin typeface="Calibri"/>
              </a:defRPr>
            </a:pPr>
            <a:r>
              <a:t>Glennerster, R. et al. (2011). Access and quality in Kenyan education. J-PAL / IPA.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14213D"/>
                </a:solidFill>
                <a:latin typeface="Calibri"/>
              </a:defRPr>
            </a:pPr>
            <a:r>
              <a:t>Gongera, E. &amp; Okoth, N. (2013). Alternative financing, Kisii County.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14213D"/>
                </a:solidFill>
                <a:latin typeface="Calibri"/>
              </a:defRPr>
            </a:pPr>
            <a:r>
              <a:t>Kenya National Bureau of Statistics. (2025). Economic Survey 2025.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14213D"/>
                </a:solidFill>
                <a:latin typeface="Calibri"/>
              </a:defRPr>
            </a:pPr>
            <a:r>
              <a:t>Lundberg, S. &amp; Lee, S.-I. (2017). Interpreting model predictions. NeurIPS 30.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14213D"/>
                </a:solidFill>
                <a:latin typeface="Calibri"/>
              </a:defRPr>
            </a:pPr>
            <a:r>
              <a:t>Otieno, M. &amp; Ochieng, J. (2020). 100% transition policy, Machakos.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14213D"/>
                </a:solidFill>
                <a:latin typeface="Calibri"/>
              </a:defRPr>
            </a:pPr>
            <a:r>
              <a:t>Realinho, V. et al. (2022). Predicting student dropout and success.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14213D"/>
                </a:solidFill>
                <a:latin typeface="Calibri"/>
              </a:defRPr>
            </a:pPr>
            <a:r>
              <a:t>RELI Africa. (2020). Status of secondary education in Kenya.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14213D"/>
                </a:solidFill>
                <a:latin typeface="Calibri"/>
              </a:defRPr>
            </a:pPr>
            <a:r>
              <a:t>Tinto, V. (1993). Leaving College (2nd ed.). U. of Chicago Press.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14213D"/>
                </a:solidFill>
                <a:latin typeface="Calibri"/>
              </a:defRPr>
            </a:pPr>
            <a:r>
              <a:t>UNESCO IICBA. (2025). Kenya education data brief.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213D"/>
                </a:solidFill>
                <a:latin typeface="Calibri"/>
              </a:defRPr>
            </a:pPr>
            <a:r>
              <a:t>Figure sources: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14213D"/>
                </a:solidFill>
                <a:latin typeface="Calibri"/>
              </a:defRPr>
            </a:pPr>
            <a:r>
              <a:t>Slide 2: Author charts from UNESCO IICBA (2025) and KNBS (2025)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14213D"/>
                </a:solidFill>
                <a:latin typeface="Calibri"/>
              </a:defRPr>
            </a:pPr>
            <a:r>
              <a:t>Slide 3: Illustrative positioning map (author)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14213D"/>
                </a:solidFill>
                <a:latin typeface="Calibri"/>
              </a:defRPr>
            </a:pPr>
            <a:r>
              <a:t>Slide 4: Product layer diagram (author)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14213D"/>
                </a:solidFill>
                <a:latin typeface="Calibri"/>
              </a:defRPr>
            </a:pPr>
            <a:r>
              <a:t>Slide 5: Gift journey and operations flow (author)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14213D"/>
                </a:solidFill>
                <a:latin typeface="Calibri"/>
              </a:defRPr>
            </a:pPr>
            <a:r>
              <a:t>Slide 6: Model comparison from project pipeline on test data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14213D"/>
                </a:solidFill>
                <a:latin typeface="Calibri"/>
              </a:defRPr>
            </a:pPr>
            <a:r>
              <a:t>Slide 7: Year-1 economics chart (illustrative, author)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14213D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100" b="1">
                <a:solidFill>
                  <a:srgbClr val="5C6B73"/>
                </a:solidFill>
                <a:latin typeface="Calibri"/>
              </a:defRPr>
            </a:pPr>
            <a:r>
              <a:t>All results are from proof-of-concept data (1,000 students). Not yet validated on live school records.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7A5A"/>
                </a:solidFill>
                <a:latin typeface="Calibri"/>
              </a:defRPr>
            </a:pPr>
            <a:r>
              <a:t>Live demo: jesyldah.github.io/ElimuMatch  |  Code: github.com/Jesyldah/ElimuMatch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1300</Words>
  <Application>Microsoft Office PowerPoint</Application>
  <PresentationFormat>Widescreen</PresentationFormat>
  <Paragraphs>118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Jess W</cp:lastModifiedBy>
  <cp:revision>1</cp:revision>
  <dcterms:created xsi:type="dcterms:W3CDTF">2013-01-27T09:14:16Z</dcterms:created>
  <dcterms:modified xsi:type="dcterms:W3CDTF">2026-09-09T14:40:40Z</dcterms:modified>
  <cp:category/>
</cp:coreProperties>
</file>